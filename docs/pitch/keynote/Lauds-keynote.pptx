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71" r:id="rId23"/>
    <p:sldId id="261" r:id="rId13"/>
    <p:sldId id="262" r:id="rId14"/>
    <p:sldId id="263" r:id="rId15"/>
    <p:sldId id="265" r:id="rId17"/>
    <p:sldId id="266" r:id="rId18"/>
    <p:sldId id="267" r:id="rId19"/>
    <p:sldId id="268" r:id="rId20"/>
    <p:sldId id="260" r:id="rId12"/>
    <p:sldId id="264" r:id="rId16"/>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about 15s]</a:t>
            </a:r>
          </a:p>
          <a:p/>
          <a:p>
            <a:r>
              <a:t>Hi, I'm Terrace from Team 26. This is Lauds: sensor fusion for student life. It's the first thing you check in the morning.</a:t>
            </a:r>
          </a:p>
          <a:p/>
          <a:p>
            <a:r>
              <a:t>---</a:t>
            </a:r>
          </a:p>
          <a:p>
            <a:r>
              <a:t>Background: Say the name slowly: L-A-U-D-S. Lauds is the old name for the morning prayer.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 about 35s]</a:t>
            </a:r>
          </a:p>
          <a:p/>
          <a:p>
            <a:r>
              <a:t>Meet Stu. Stu has Canvas, Piazza, WeBWorK, and a couple of PrairieLearns on different domains. Workday has his timetable. The Bookstore has his textbooks. None of them talk to each other. So a quiz posted on WeBWorK never shows up on Canvas's calendar. A three-hundred-dollar textbook turns up in week two. And nothing can answer the one question Stu has every morning: what do I need to do right now?</a:t>
            </a:r>
          </a:p>
          <a:p/>
          <a:p>
            <a:r>
              <a:t>---</a:t>
            </a:r>
          </a:p>
          <a:p>
            <a:r>
              <a:t>Background: Stu is the demo student on the live site.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about 30s]</a:t>
            </a:r>
          </a:p>
          <a:p/>
          <a:p>
            <a:r>
              <a:t>Here's our idea. Every one of those platforms is a sensor. Each one sees its own slice of Stu's week, and nothing more. Lauds doesn't replace any of them. It reads them all, translates them into one shared model, and fuses them: duplicates merged, courses matched, everything ranked by what needs attention today.</a:t>
            </a:r>
          </a:p>
          <a:p/>
          <a:p>
            <a:r>
              <a:t>---</a:t>
            </a:r>
          </a:p>
          <a:p>
            <a:r>
              <a:t>Background: The value proposition. Pause after 'fuses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 about 35s]</a:t>
            </a:r>
          </a:p>
          <a:p/>
          <a:p>
            <a:r>
              <a:t>Here's how the sensors come together. Across the top are the systems Stu already uses: nine systems, nine logins, nine separate habits. Each one gets a small adapter that translates it into one shared model: courses, items and textbooks. Fusion only happens on that model. That's how CPSC underscore V 110 in Canvas and CPSC 110 in Piazza become one course. We fuse them into one morning check. The fusion layer is the product, not any single connector.</a:t>
            </a:r>
          </a:p>
          <a:p/>
          <a:p>
            <a:r>
              <a:t>---</a:t>
            </a:r>
          </a:p>
          <a:p>
            <a:r>
              <a:t>Background: The ontology is the one shared vocabulary every source is translated into. If asked: Course, Item (anything due or announced), Textbook.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(backup). If the live demo fails, jump here and talk over the two screenshots with the same lines as the demo.</a:t>
            </a:r>
          </a:p>
          <a:p/>
          <a:p>
            <a:r>
              <a:t>Two real screenshots of the web app. If you're doing the live demo, switch to the browser here: hello-hacks26-terraceonhigh.vercel.app. It opens on the demo student, no login.</a:t>
            </a:r>
          </a:p>
          <a:p/>
          <a:p>
            <a:r>
              <a:t>Left: the ranked list. Top assignments across every course and platform, overdue first, ranked by urgency, not just date.</a:t>
            </a:r>
          </a:p>
          <a:p/>
          <a:p>
            <a:r>
              <a:t>Right: the calendar. A month grid across every course, and one calendar feed that puts every deadline in Apple, Google or Outlook Calendar.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[2:30, about 75s]</a:t>
            </a:r>
          </a:p>
          <a:p/>
          <a:p>
            <a:r>
              <a:t>Let me show you. [Switch to the browser.] This is the live site. No login: it's a made-up student in week five. [Overview] Twenty-five things due this week, five already overdue, ranked across every course. [Top assignments] The five most urgent, overdue first, and each one links straight back to the platform it came from. [Assignments tab] Here's Quiz 3. It was posted on both Canvas and PrairieLearn, and it shows up once. That's fusion. [Calendar, click Monday] Monday: a lecture, a lab and eleven deadlines from four platforms, on one screen. [Schedule tab] His timetable, straight from Workday. [Settings] And every one of these sensors is a plug-in. [Switch back to the slides.]</a:t>
            </a:r>
          </a:p>
          <a:p/>
          <a:p>
            <a:r>
              <a:t>---</a:t>
            </a:r>
          </a:p>
          <a:p>
            <a:r>
              <a:t>Background: Counts shift slightly by weekday. The Connections rows read 'Not connected' on purpose; don't click Connect on stage. If the site is down, go to the backup slide in the appendix.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[3:45, about 15s]</a:t>
            </a:r>
          </a:p>
          <a:p/>
          <a:p>
            <a:r>
              <a:t>Under the hood: any sensor, one adapter, one standard database, out to the web app and a calendar feed for your phone. A new platform is one adapter file.</a:t>
            </a:r>
          </a:p>
          <a:p/>
          <a:p>
            <a:r>
              <a:t>---</a:t>
            </a:r>
          </a:p>
          <a:p>
            <a:r>
              <a:t>Background: Every item's identity is its source plus its link; that's what lets duplicates merge.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[4:00, about 15s]</a:t>
            </a:r>
          </a:p>
          <a:p/>
          <a:p>
            <a:r>
              <a:t>Six platforms are merged today, and eight more are built and in review. Fourteen in the pipeline, and one student who never has to think about which one.</a:t>
            </a:r>
          </a:p>
          <a:p/>
          <a:p>
            <a:r>
              <a:t>---</a:t>
            </a:r>
          </a:p>
          <a:p>
            <a:r>
              <a:t>Background: Orange means merged code. With a real account today: Canvas, PrairieLearn, Workday, key dates. WeBWorK and Brightspace connect is in review.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For Q&amp;A only: which sensors work with a real account today.</a:t>
            </a:r>
          </a:p>
          <a:p/>
          <a:p>
            <a:r>
              <a:t>NEW SLIDE. Mostly for Q&amp;A: have it ready, you may not need to present it.</a:t>
            </a:r>
          </a:p>
          <a:p/>
          <a:p>
            <a:r>
              <a:t>Every sensor in the demo runs through real adapter code, but real-account use is narrower. Know which column you're talking about.</a:t>
            </a:r>
          </a:p>
          <a:p/>
          <a:p>
            <a:r>
              <a:t>If pressed on WeBWorK or Brightspace: they're in the demo; live connect is in review. If pressed on sync across devices: that's next, the storage isn't switched on yet.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[4:15, about 15s]</a:t>
            </a:r>
          </a:p>
          <a:p/>
          <a:p>
            <a:r>
              <a:t>We held ourselves to rules you can check. Students log in themselves, so our code never sees a password. And a live test against the real Bookstore caught a bug before it shipped.</a:t>
            </a:r>
          </a:p>
          <a:p/>
          <a:p>
            <a:r>
              <a:t>Timing: If you're running long, cut this slide.</a:t>
            </a:r>
          </a:p>
          <a:p/>
          <a:p>
            <a:r>
              <a:t>---</a:t>
            </a:r>
          </a:p>
          <a:p>
            <a:r>
              <a:t>Background: If asked 'do you scrape?': structured data first; PrairieLearn and WeBWorK have no feed, so one narrow page read.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[4:30, about 15s]</a:t>
            </a:r>
          </a:p>
          <a:p/>
          <a:p>
            <a:r>
              <a:t>In numbers: six platforms, three hundred and twenty-five automated tests, three bugs caught live, and zero passwords.</a:t>
            </a:r>
          </a:p>
          <a:p/>
          <a:p>
            <a:r>
              <a:t>Timing: If you're running long, merge this into the previous line.</a:t>
            </a:r>
          </a:p>
          <a:p/>
          <a:p>
            <a:r>
              <a:t>---</a:t>
            </a:r>
          </a:p>
          <a:p>
            <a:r>
              <a:t>Background: 325 is the backend test count on main; 49 web tests on top. The 3-bugs figure is the team's own count.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[4:45, about 15s]</a:t>
            </a:r>
          </a:p>
          <a:p/>
          <a:p>
            <a:r>
              <a:t>Next: a synced account so it follows you across devices, capture from tabs you already have open, and deadlines read straight from syllabus PDFs.</a:t>
            </a:r>
          </a:p>
          <a:p/>
          <a:p>
            <a:r>
              <a:t>Timing: If you're running long, say only the first item.</a:t>
            </a:r>
          </a:p>
          <a:p/>
          <a:p>
            <a:r>
              <a:t>---</a:t>
            </a:r>
          </a:p>
          <a:p>
            <a:r>
              <a:t>Background: These are next, not shipped. Don't demo sync.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[5:00, about 15s]</a:t>
            </a:r>
          </a:p>
          <a:p/>
          <a:p>
            <a:r>
              <a:t>Every platform a student already uses, fused into one picture, before you open any other tab. That's Lauds: the first thing you check in the morning. Thank you.</a:t>
            </a:r>
          </a:p>
          <a:p/>
          <a:p>
            <a:r>
              <a:t>---</a:t>
            </a:r>
          </a:p>
          <a:p>
            <a:r>
              <a:t>Background: Thank the team by name. Check 'Samaya'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Keep this up during Q&amp;A, or use it as a crib sheet.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for you, not the audience. Also: record the demo video in Sample mode. Real data would show your actual courses and grades.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[1:55, about 35s]</a:t>
            </a:r>
          </a:p>
          <a:p/>
          <a:p>
            <a:r>
              <a:t>And it runs as a tight loop, every morning. See it: read every sensor. Fuse it: one model, so one quiz on two platforms is one item. Decide: rank by urgency, weighted by what matters to you. Act: one click opens it where it lives, or checks it off. Most student tools stop at reading. Lauds closes the loop, before you open any other tab.</a:t>
            </a:r>
          </a:p>
          <a:p/>
          <a:p>
            <a:r>
              <a:t>---</a:t>
            </a:r>
          </a:p>
          <a:p>
            <a:r>
              <a:t>Background: Fuse is highlighted because fusion is the product.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B84028"/>
        </a:solidFill>
        <a:effectLst/>
      </p:bgPr>
    </p:bg>
    <p:spTree>
      <p:nvGrpSpPr>
        <p:cNvPr id="1" name=""/>
        <p:cNvGrpSpPr/>
        <p:nvPr/>
      </p:nvGrpSpPr>
      <p:grpSpPr/>
      <p:sp>
        <p:nvSpPr>
          <p:cNvPr id="2" name="TextBox 1"/>
          <p:cNvSpPr txBox="1"/>
          <p:nvPr/>
        </p:nvSpPr>
        <p:spPr>
          <a:xfrm>
            <a:off x="731520" y="1417320"/>
            <a:ext cx="10698480" cy="365760"/>
          </a:xfrm>
          <a:prstGeom prst="rect">
            <a:avLst/>
          </a:prstGeom>
          <a:noFill/>
        </p:spPr>
        <p:txBody>
          <a:bodyPr wrap="square" anchor="t" lIns="0" rIns="0" tIns="0" bIns="0">
            <a:spAutoFit/>
          </a:bodyPr>
          <a:lstStyle/>
          <a:p>
            <a:pPr algn="l">
              <a:spcAft>
                <a:spcPts val="0"/>
              </a:spcAft>
            </a:pPr>
            <a:r>
              <a:rPr sz="1600" b="1" i="0" spc="400">
                <a:solidFill>
                  <a:srgbClr val="F3D9CE"/>
                </a:solidFill>
                <a:latin typeface="Arial"/>
              </a:rPr>
              <a:t>UBC BIZTECH HELLOHACKS 2026</a:t>
            </a:r>
          </a:p>
        </p:txBody>
      </p:sp>
      <p:sp>
        <p:nvSpPr>
          <p:cNvPr id="3" name="TextBox 2"/>
          <p:cNvSpPr txBox="1"/>
          <p:nvPr/>
        </p:nvSpPr>
        <p:spPr>
          <a:xfrm>
            <a:off x="731520" y="1828800"/>
            <a:ext cx="10698480" cy="1737360"/>
          </a:xfrm>
          <a:prstGeom prst="rect">
            <a:avLst/>
          </a:prstGeom>
          <a:noFill/>
        </p:spPr>
        <p:txBody>
          <a:bodyPr wrap="square" anchor="t" lIns="0" rIns="0" tIns="0" bIns="0">
            <a:spAutoFit/>
          </a:bodyPr>
          <a:lstStyle/>
          <a:p>
            <a:pPr algn="l">
              <a:spcAft>
                <a:spcPts val="0"/>
              </a:spcAft>
            </a:pPr>
            <a:r>
              <a:rPr sz="12000" b="1" i="0">
                <a:solidFill>
                  <a:srgbClr val="FFF8F4"/>
                </a:solidFill>
                <a:latin typeface="Arial"/>
              </a:rPr>
              <a:t>Lauds</a:t>
            </a:r>
          </a:p>
        </p:txBody>
      </p:sp>
      <p:sp>
        <p:nvSpPr>
          <p:cNvPr id="4" name="TextBox 3"/>
          <p:cNvSpPr txBox="1"/>
          <p:nvPr/>
        </p:nvSpPr>
        <p:spPr>
          <a:xfrm>
            <a:off x="731520" y="3794760"/>
            <a:ext cx="10698480" cy="548640"/>
          </a:xfrm>
          <a:prstGeom prst="rect">
            <a:avLst/>
          </a:prstGeom>
          <a:noFill/>
        </p:spPr>
        <p:txBody>
          <a:bodyPr wrap="square" anchor="t" lIns="0" rIns="0" tIns="0" bIns="0">
            <a:spAutoFit/>
          </a:bodyPr>
          <a:lstStyle/>
          <a:p>
            <a:pPr algn="l">
              <a:spcAft>
                <a:spcPts val="0"/>
              </a:spcAft>
            </a:pPr>
            <a:r>
              <a:rPr sz="2800" b="0" i="0">
                <a:solidFill>
                  <a:srgbClr val="FBE4DA"/>
                </a:solidFill>
                <a:latin typeface="Arial"/>
              </a:rPr>
              <a:t>The first thing you check in the morning.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nchor="t" lIns="0" rIns="0" tIns="0" bIns="0">
            <a:spAutoFit/>
          </a:bodyPr>
          <a:lstStyle/>
          <a:p>
            <a:pPr algn="l">
              <a:spcAft>
                <a:spcPts val="0"/>
              </a:spcAft>
            </a:pPr>
            <a:r>
              <a:rPr sz="4400" b="1" i="0">
                <a:solidFill>
                  <a:srgbClr val="17211B"/>
                </a:solidFill>
                <a:latin typeface="Arial"/>
              </a:rPr>
              <a:t>Meet Stu.</a:t>
            </a:r>
          </a:p>
        </p:txBody>
      </p:sp>
      <p:sp>
        <p:nvSpPr>
          <p:cNvPr id="3" name="TextBox 2"/>
          <p:cNvSpPr txBox="1"/>
          <p:nvPr/>
        </p:nvSpPr>
        <p:spPr>
          <a:xfrm>
            <a:off x="731520" y="1463040"/>
            <a:ext cx="10332720" cy="1097280"/>
          </a:xfrm>
          <a:prstGeom prst="rect">
            <a:avLst/>
          </a:prstGeom>
          <a:noFill/>
        </p:spPr>
        <p:txBody>
          <a:bodyPr wrap="square" anchor="t" lIns="0" rIns="0" tIns="0" bIns="0">
            <a:spAutoFit/>
          </a:bodyPr>
          <a:lstStyle/>
          <a:p>
            <a:pPr algn="l">
              <a:spcAft>
                <a:spcPts val="0"/>
              </a:spcAft>
            </a:pPr>
            <a:r>
              <a:rPr sz="2000" b="0" i="0">
                <a:solidFill>
                  <a:srgbClr val="46524C"/>
                </a:solidFill>
                <a:latin typeface="Arial"/>
              </a:rPr>
              <a:t>He has a Canvas account, a Piazza account, a WeBWorK account, and several PrairieLearns with different domains. Is he keeping up with all those websites? No. In fact, he's already missed a few assignments.</a:t>
            </a:r>
          </a:p>
        </p:txBody>
      </p:sp>
      <p:sp>
        <p:nvSpPr>
          <p:cNvPr id="4" name="Rounded Rectangle 3"/>
          <p:cNvSpPr/>
          <p:nvPr/>
        </p:nvSpPr>
        <p:spPr>
          <a:xfrm>
            <a:off x="731520" y="3063240"/>
            <a:ext cx="2514600" cy="246888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800"/>
              </a:spcAft>
            </a:pPr>
            <a:r>
              <a:rPr sz="1800" b="1" i="0">
                <a:solidFill>
                  <a:srgbClr val="17211B"/>
                </a:solidFill>
                <a:latin typeface="Arial"/>
              </a:rPr>
              <a:t>Missed deadlines</a:t>
            </a:r>
          </a:p>
          <a:p>
            <a:pPr algn="l">
              <a:spcAft>
                <a:spcPts val="0"/>
              </a:spcAft>
            </a:pPr>
            <a:r>
              <a:rPr sz="1400" b="0" i="0">
                <a:solidFill>
                  <a:srgbClr val="46524C"/>
                </a:solidFill>
                <a:latin typeface="Arial"/>
              </a:rPr>
              <a:t>A quiz posted on WeBWorK never shows up on Canvas's calendar at all.</a:t>
            </a:r>
          </a:p>
        </p:txBody>
      </p:sp>
      <p:sp>
        <p:nvSpPr>
          <p:cNvPr id="5" name="Rounded Rectangle 4"/>
          <p:cNvSpPr/>
          <p:nvPr/>
        </p:nvSpPr>
        <p:spPr>
          <a:xfrm>
            <a:off x="3474720" y="3063240"/>
            <a:ext cx="2514600" cy="246888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800"/>
              </a:spcAft>
            </a:pPr>
            <a:r>
              <a:rPr sz="1800" b="1" i="0">
                <a:solidFill>
                  <a:srgbClr val="17211B"/>
                </a:solidFill>
                <a:latin typeface="Arial"/>
              </a:rPr>
              <a:t>Scattered tools</a:t>
            </a:r>
          </a:p>
          <a:p>
            <a:pPr algn="l">
              <a:spcAft>
                <a:spcPts val="0"/>
              </a:spcAft>
            </a:pPr>
            <a:r>
              <a:rPr sz="1400" b="0" i="0">
                <a:solidFill>
                  <a:srgbClr val="46524C"/>
                </a:solidFill>
                <a:latin typeface="Arial"/>
              </a:rPr>
              <a:t>Piazza, Ed Discussion, Crowdmark, Moodle: a different app per course, sometimes per assignment.</a:t>
            </a:r>
          </a:p>
        </p:txBody>
      </p:sp>
      <p:sp>
        <p:nvSpPr>
          <p:cNvPr id="6" name="Rounded Rectangle 5"/>
          <p:cNvSpPr/>
          <p:nvPr/>
        </p:nvSpPr>
        <p:spPr>
          <a:xfrm>
            <a:off x="6217920" y="3063240"/>
            <a:ext cx="2514600" cy="246888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800"/>
              </a:spcAft>
            </a:pPr>
            <a:r>
              <a:rPr sz="1800" b="1" i="0">
                <a:solidFill>
                  <a:srgbClr val="17211B"/>
                </a:solidFill>
                <a:latin typeface="Arial"/>
              </a:rPr>
              <a:t>Surprise costs</a:t>
            </a:r>
          </a:p>
          <a:p>
            <a:pPr algn="l">
              <a:spcAft>
                <a:spcPts val="0"/>
              </a:spcAft>
            </a:pPr>
            <a:r>
              <a:rPr sz="1400" b="0" i="0">
                <a:solidFill>
                  <a:srgbClr val="46524C"/>
                </a:solidFill>
                <a:latin typeface="Arial"/>
              </a:rPr>
              <a:t>Nobody checks the Bookstore until week 2, when the required textbook is $300.</a:t>
            </a:r>
          </a:p>
        </p:txBody>
      </p:sp>
      <p:sp>
        <p:nvSpPr>
          <p:cNvPr id="7" name="Rounded Rectangle 6"/>
          <p:cNvSpPr/>
          <p:nvPr/>
        </p:nvSpPr>
        <p:spPr>
          <a:xfrm>
            <a:off x="8961120" y="3063240"/>
            <a:ext cx="2514600" cy="246888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800"/>
              </a:spcAft>
            </a:pPr>
            <a:r>
              <a:rPr sz="1800" b="1" i="0">
                <a:solidFill>
                  <a:srgbClr val="17211B"/>
                </a:solidFill>
                <a:latin typeface="Arial"/>
              </a:rPr>
              <a:t>Platform isolation</a:t>
            </a:r>
          </a:p>
          <a:p>
            <a:pPr algn="l">
              <a:spcAft>
                <a:spcPts val="0"/>
              </a:spcAft>
            </a:pPr>
            <a:r>
              <a:rPr sz="1400" b="0" i="0">
                <a:solidFill>
                  <a:srgbClr val="46524C"/>
                </a:solidFill>
                <a:latin typeface="Arial"/>
              </a:rPr>
              <a:t>Every platform is its own island. Nothing answers "what do I need to do right now?"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TextBox 1"/>
          <p:cNvSpPr txBox="1"/>
          <p:nvPr/>
        </p:nvSpPr>
        <p:spPr>
          <a:xfrm>
            <a:off x="731520" y="502920"/>
            <a:ext cx="10698480" cy="320040"/>
          </a:xfrm>
          <a:prstGeom prst="rect">
            <a:avLst/>
          </a:prstGeom>
          <a:noFill/>
        </p:spPr>
        <p:txBody>
          <a:bodyPr wrap="square" anchor="t" lIns="0" rIns="0" tIns="0" bIns="0">
            <a:spAutoFit/>
          </a:bodyPr>
          <a:lstStyle/>
          <a:p>
            <a:pPr algn="l">
              <a:spcAft>
                <a:spcPts val="0"/>
              </a:spcAft>
            </a:pPr>
            <a:r>
              <a:rPr sz="1300" b="1" i="0" spc="300">
                <a:solidFill>
                  <a:srgbClr val="B84028"/>
                </a:solidFill>
                <a:latin typeface="Arial"/>
              </a:rPr>
              <a:t>WHY?</a:t>
            </a:r>
          </a:p>
        </p:txBody>
      </p:sp>
      <p:sp>
        <p:nvSpPr>
          <p:cNvPr id="3" name="TextBox 2"/>
          <p:cNvSpPr txBox="1"/>
          <p:nvPr/>
        </p:nvSpPr>
        <p:spPr>
          <a:xfrm>
            <a:off x="731520" y="868680"/>
            <a:ext cx="10698480" cy="914400"/>
          </a:xfrm>
          <a:prstGeom prst="rect">
            <a:avLst/>
          </a:prstGeom>
          <a:noFill/>
        </p:spPr>
        <p:txBody>
          <a:bodyPr wrap="square" anchor="t" lIns="0" rIns="0" tIns="0" bIns="0">
            <a:spAutoFit/>
          </a:bodyPr>
          <a:lstStyle/>
          <a:p>
            <a:pPr algn="l">
              <a:spcAft>
                <a:spcPts val="0"/>
              </a:spcAft>
            </a:pPr>
            <a:r>
              <a:rPr sz="4000" b="1" i="0">
                <a:solidFill>
                  <a:srgbClr val="17211B"/>
                </a:solidFill>
                <a:latin typeface="Arial"/>
              </a:rPr>
              <a:t>Every platform is a sensor. Lauds fuses them.</a:t>
            </a:r>
          </a:p>
        </p:txBody>
      </p:sp>
      <p:sp>
        <p:nvSpPr>
          <p:cNvPr id="4" name="TextBox 3"/>
          <p:cNvSpPr txBox="1"/>
          <p:nvPr/>
        </p:nvSpPr>
        <p:spPr>
          <a:xfrm>
            <a:off x="731520" y="2423160"/>
            <a:ext cx="10058400" cy="1280160"/>
          </a:xfrm>
          <a:prstGeom prst="rect">
            <a:avLst/>
          </a:prstGeom>
          <a:noFill/>
        </p:spPr>
        <p:txBody>
          <a:bodyPr wrap="square" anchor="t" lIns="0" rIns="0" tIns="0" bIns="0">
            <a:spAutoFit/>
          </a:bodyPr>
          <a:lstStyle/>
          <a:p>
            <a:pPr algn="l">
              <a:spcAft>
                <a:spcPts val="0"/>
              </a:spcAft>
            </a:pPr>
            <a:r>
              <a:rPr sz="2000" b="0" i="0">
                <a:solidFill>
                  <a:srgbClr val="46524C"/>
                </a:solidFill>
                <a:latin typeface="Arial"/>
              </a:rPr>
              <a:t>Lauds reads each system a student already uses, translates it into one shared model, and fuses it: duplicates merged, courses matched, everything ranked by what needs attention today, with a link back to where it lives.</a:t>
            </a:r>
          </a:p>
        </p:txBody>
      </p:sp>
      <p:sp>
        <p:nvSpPr>
          <p:cNvPr id="5" name="Rounded Rectangle 4"/>
          <p:cNvSpPr/>
          <p:nvPr/>
        </p:nvSpPr>
        <p:spPr>
          <a:xfrm>
            <a:off x="731520" y="4160520"/>
            <a:ext cx="3200400" cy="173736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201168" bIns="201168"/>
          <a:lstStyle/>
          <a:p>
            <a:pPr algn="ctr">
              <a:spcAft>
                <a:spcPts val="800"/>
              </a:spcAft>
            </a:pPr>
            <a:r>
              <a:rPr sz="1300" b="1" i="0" spc="200">
                <a:solidFill>
                  <a:srgbClr val="5F6B65"/>
                </a:solidFill>
                <a:latin typeface="Arial"/>
              </a:rPr>
              <a:t>SENSORS</a:t>
            </a:r>
          </a:p>
          <a:p>
            <a:pPr algn="ctr">
              <a:spcAft>
                <a:spcPts val="0"/>
              </a:spcAft>
            </a:pPr>
            <a:r>
              <a:rPr sz="1900" b="1" i="0">
                <a:solidFill>
                  <a:srgbClr val="17211B"/>
                </a:solidFill>
                <a:latin typeface="Arial"/>
              </a:rPr>
              <a:t>Canvas, Workday, Bookstore, Piazza...</a:t>
            </a:r>
          </a:p>
        </p:txBody>
      </p:sp>
      <p:sp>
        <p:nvSpPr>
          <p:cNvPr id="6" name="Rounded Rectangle 5"/>
          <p:cNvSpPr/>
          <p:nvPr/>
        </p:nvSpPr>
        <p:spPr>
          <a:xfrm>
            <a:off x="4480559" y="4160520"/>
            <a:ext cx="3200400" cy="1737360"/>
          </a:xfrm>
          <a:prstGeom prst="roundRect">
            <a:avLst>
              <a:gd name="adj" fmla="val 8000"/>
            </a:avLst>
          </a:prstGeom>
          <a:solidFill>
            <a:srgbClr val="B840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201168" bIns="201168"/>
          <a:lstStyle/>
          <a:p>
            <a:pPr algn="ctr">
              <a:spcAft>
                <a:spcPts val="800"/>
              </a:spcAft>
            </a:pPr>
            <a:r>
              <a:rPr sz="1300" b="1" i="0" spc="200">
                <a:solidFill>
                  <a:srgbClr val="F3D9CE"/>
                </a:solidFill>
                <a:latin typeface="Arial"/>
              </a:rPr>
              <a:t>FUSION</a:t>
            </a:r>
          </a:p>
          <a:p>
            <a:pPr algn="ctr">
              <a:spcAft>
                <a:spcPts val="0"/>
              </a:spcAft>
            </a:pPr>
            <a:r>
              <a:rPr sz="1900" b="1" i="0">
                <a:solidFill>
                  <a:srgbClr val="FFF8F4"/>
                </a:solidFill>
                <a:latin typeface="Arial"/>
              </a:rPr>
              <a:t>Courses, Tasks, Announcements, Materials</a:t>
            </a:r>
          </a:p>
        </p:txBody>
      </p:sp>
      <p:sp>
        <p:nvSpPr>
          <p:cNvPr id="7" name="Rounded Rectangle 6"/>
          <p:cNvSpPr/>
          <p:nvPr/>
        </p:nvSpPr>
        <p:spPr>
          <a:xfrm>
            <a:off x="8229600" y="4160520"/>
            <a:ext cx="3200400" cy="173736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201168" bIns="201168"/>
          <a:lstStyle/>
          <a:p>
            <a:pPr algn="ctr">
              <a:spcAft>
                <a:spcPts val="800"/>
              </a:spcAft>
            </a:pPr>
            <a:r>
              <a:rPr sz="1300" b="1" i="0" spc="200">
                <a:solidFill>
                  <a:srgbClr val="5F6B65"/>
                </a:solidFill>
                <a:latin typeface="Arial"/>
              </a:rPr>
              <a:t>ONE PICTURE</a:t>
            </a:r>
          </a:p>
          <a:p>
            <a:pPr algn="ctr">
              <a:spcAft>
                <a:spcPts val="0"/>
              </a:spcAft>
            </a:pPr>
            <a:r>
              <a:rPr sz="1900" b="1" i="0">
                <a:solidFill>
                  <a:srgbClr val="17211B"/>
                </a:solidFill>
                <a:latin typeface="Arial"/>
              </a:rPr>
              <a:t>Dashboard</a:t>
            </a:r>
          </a:p>
        </p:txBody>
      </p:sp>
      <p:sp>
        <p:nvSpPr>
          <p:cNvPr id="8" name="Right Arrow 7"/>
          <p:cNvSpPr/>
          <p:nvPr/>
        </p:nvSpPr>
        <p:spPr>
          <a:xfrm>
            <a:off x="4023360" y="4846320"/>
            <a:ext cx="457200" cy="365760"/>
          </a:xfrm>
          <a:prstGeom prst="rightArrow">
            <a:avLst/>
          </a:prstGeom>
          <a:solidFill>
            <a:srgbClr val="B84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ight Arrow 8"/>
          <p:cNvSpPr/>
          <p:nvPr/>
        </p:nvSpPr>
        <p:spPr>
          <a:xfrm>
            <a:off x="7772400" y="4846320"/>
            <a:ext cx="457200" cy="365760"/>
          </a:xfrm>
          <a:prstGeom prst="rightArrow">
            <a:avLst/>
          </a:prstGeom>
          <a:solidFill>
            <a:srgbClr val="B84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TextBox 1"/>
          <p:cNvSpPr txBox="1"/>
          <p:nvPr/>
        </p:nvSpPr>
        <p:spPr>
          <a:xfrm>
            <a:off x="731520" y="320040"/>
            <a:ext cx="10698480" cy="320040"/>
          </a:xfrm>
          <a:prstGeom prst="rect">
            <a:avLst/>
          </a:prstGeom>
          <a:noFill/>
        </p:spPr>
        <p:txBody>
          <a:bodyPr wrap="square" anchor="t" lIns="0" rIns="0" tIns="0" bIns="0">
            <a:spAutoFit/>
          </a:bodyPr>
          <a:lstStyle/>
          <a:p>
            <a:pPr algn="l">
              <a:spcAft>
                <a:spcPts val="0"/>
              </a:spcAft>
            </a:pPr>
            <a:r>
              <a:rPr sz="1300" b="1" i="0" spc="300">
                <a:solidFill>
                  <a:srgbClr val="B84028"/>
                </a:solidFill>
                <a:latin typeface="Arial"/>
              </a:rPr>
              <a:t>HOW THE SENSORS COME TOGETHER</a:t>
            </a:r>
          </a:p>
        </p:txBody>
      </p:sp>
      <p:sp>
        <p:nvSpPr>
          <p:cNvPr id="3" name="TextBox 2"/>
          <p:cNvSpPr txBox="1"/>
          <p:nvPr/>
        </p:nvSpPr>
        <p:spPr>
          <a:xfrm>
            <a:off x="731520" y="594360"/>
            <a:ext cx="10698480" cy="548640"/>
          </a:xfrm>
          <a:prstGeom prst="rect">
            <a:avLst/>
          </a:prstGeom>
          <a:noFill/>
        </p:spPr>
        <p:txBody>
          <a:bodyPr wrap="square" anchor="t" lIns="0" rIns="0" tIns="0" bIns="0">
            <a:spAutoFit/>
          </a:bodyPr>
          <a:lstStyle/>
          <a:p>
            <a:pPr algn="l">
              <a:spcAft>
                <a:spcPts val="0"/>
              </a:spcAft>
            </a:pPr>
            <a:r>
              <a:rPr sz="2800" b="1" i="0">
                <a:solidFill>
                  <a:srgbClr val="17211B"/>
                </a:solidFill>
                <a:latin typeface="Arial"/>
              </a:rPr>
              <a:t>Many narrow sensors, one fused picture.</a:t>
            </a:r>
          </a:p>
        </p:txBody>
      </p:sp>
      <p:sp>
        <p:nvSpPr>
          <p:cNvPr id="4" name="TextBox 3"/>
          <p:cNvSpPr txBox="1"/>
          <p:nvPr/>
        </p:nvSpPr>
        <p:spPr>
          <a:xfrm>
            <a:off x="731520" y="1188720"/>
            <a:ext cx="6766560" cy="274320"/>
          </a:xfrm>
          <a:prstGeom prst="rect">
            <a:avLst/>
          </a:prstGeom>
          <a:noFill/>
        </p:spPr>
        <p:txBody>
          <a:bodyPr wrap="square" anchor="t" lIns="0" rIns="0" tIns="0" bIns="0">
            <a:spAutoFit/>
          </a:bodyPr>
          <a:lstStyle/>
          <a:p>
            <a:pPr algn="l">
              <a:spcAft>
                <a:spcPts val="0"/>
              </a:spcAft>
            </a:pPr>
            <a:r>
              <a:rPr sz="1100" b="1" i="0" spc="150">
                <a:solidFill>
                  <a:srgbClr val="5F6B65"/>
                </a:solidFill>
                <a:latin typeface="Arial"/>
              </a:rPr>
              <a:t>SENSORS: THE SYSTEMS A STUDENT ALREADY USES</a:t>
            </a:r>
          </a:p>
        </p:txBody>
      </p:sp>
      <p:sp>
        <p:nvSpPr>
          <p:cNvPr id="5" name="Rounded Rectangle 4"/>
          <p:cNvSpPr/>
          <p:nvPr/>
        </p:nvSpPr>
        <p:spPr>
          <a:xfrm>
            <a:off x="731520" y="1508760"/>
            <a:ext cx="1051560" cy="502920"/>
          </a:xfrm>
          <a:prstGeom prst="roundRect">
            <a:avLst>
              <a:gd name="adj" fmla="val 20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0"/>
              </a:spcAft>
            </a:pPr>
            <a:r>
              <a:rPr sz="1200" b="1" i="0">
                <a:solidFill>
                  <a:srgbClr val="17211B"/>
                </a:solidFill>
                <a:latin typeface="Arial"/>
              </a:rPr>
              <a:t>Canvas</a:t>
            </a:r>
          </a:p>
        </p:txBody>
      </p:sp>
      <p:sp>
        <p:nvSpPr>
          <p:cNvPr id="6" name="Rounded Rectangle 5"/>
          <p:cNvSpPr/>
          <p:nvPr/>
        </p:nvSpPr>
        <p:spPr>
          <a:xfrm>
            <a:off x="1874519" y="1508760"/>
            <a:ext cx="1051560" cy="502920"/>
          </a:xfrm>
          <a:prstGeom prst="roundRect">
            <a:avLst>
              <a:gd name="adj" fmla="val 20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0"/>
              </a:spcAft>
            </a:pPr>
            <a:r>
              <a:rPr sz="1200" b="1" i="0">
                <a:solidFill>
                  <a:srgbClr val="17211B"/>
                </a:solidFill>
                <a:latin typeface="Arial"/>
              </a:rPr>
              <a:t>PrairieLearn</a:t>
            </a:r>
          </a:p>
        </p:txBody>
      </p:sp>
      <p:sp>
        <p:nvSpPr>
          <p:cNvPr id="7" name="Rounded Rectangle 6"/>
          <p:cNvSpPr/>
          <p:nvPr/>
        </p:nvSpPr>
        <p:spPr>
          <a:xfrm>
            <a:off x="3017520" y="1508760"/>
            <a:ext cx="1051560" cy="502920"/>
          </a:xfrm>
          <a:prstGeom prst="roundRect">
            <a:avLst>
              <a:gd name="adj" fmla="val 20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0"/>
              </a:spcAft>
            </a:pPr>
            <a:r>
              <a:rPr sz="1200" b="1" i="0">
                <a:solidFill>
                  <a:srgbClr val="17211B"/>
                </a:solidFill>
                <a:latin typeface="Arial"/>
              </a:rPr>
              <a:t>WeBWorK</a:t>
            </a:r>
          </a:p>
        </p:txBody>
      </p:sp>
      <p:sp>
        <p:nvSpPr>
          <p:cNvPr id="8" name="Rounded Rectangle 7"/>
          <p:cNvSpPr/>
          <p:nvPr/>
        </p:nvSpPr>
        <p:spPr>
          <a:xfrm>
            <a:off x="4160520" y="1508760"/>
            <a:ext cx="1051560" cy="502920"/>
          </a:xfrm>
          <a:prstGeom prst="roundRect">
            <a:avLst>
              <a:gd name="adj" fmla="val 20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0"/>
              </a:spcAft>
            </a:pPr>
            <a:r>
              <a:rPr sz="1200" b="1" i="0">
                <a:solidFill>
                  <a:srgbClr val="17211B"/>
                </a:solidFill>
                <a:latin typeface="Arial"/>
              </a:rPr>
              <a:t>Piazza</a:t>
            </a:r>
          </a:p>
        </p:txBody>
      </p:sp>
      <p:sp>
        <p:nvSpPr>
          <p:cNvPr id="9" name="Rounded Rectangle 8"/>
          <p:cNvSpPr/>
          <p:nvPr/>
        </p:nvSpPr>
        <p:spPr>
          <a:xfrm>
            <a:off x="5303520" y="1508760"/>
            <a:ext cx="1051560" cy="502920"/>
          </a:xfrm>
          <a:prstGeom prst="roundRect">
            <a:avLst>
              <a:gd name="adj" fmla="val 20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0"/>
              </a:spcAft>
            </a:pPr>
            <a:r>
              <a:rPr sz="1200" b="1" i="0">
                <a:solidFill>
                  <a:srgbClr val="17211B"/>
                </a:solidFill>
                <a:latin typeface="Arial"/>
              </a:rPr>
              <a:t>Workday</a:t>
            </a:r>
          </a:p>
        </p:txBody>
      </p:sp>
      <p:sp>
        <p:nvSpPr>
          <p:cNvPr id="10" name="Rounded Rectangle 9"/>
          <p:cNvSpPr/>
          <p:nvPr/>
        </p:nvSpPr>
        <p:spPr>
          <a:xfrm>
            <a:off x="6446520" y="1508760"/>
            <a:ext cx="1051560" cy="502920"/>
          </a:xfrm>
          <a:prstGeom prst="roundRect">
            <a:avLst>
              <a:gd name="adj" fmla="val 20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0"/>
              </a:spcAft>
            </a:pPr>
            <a:r>
              <a:rPr sz="1200" b="1" i="0">
                <a:solidFill>
                  <a:srgbClr val="17211B"/>
                </a:solidFill>
                <a:latin typeface="Arial"/>
              </a:rPr>
              <a:t>Bookstore</a:t>
            </a:r>
          </a:p>
        </p:txBody>
      </p:sp>
      <p:sp>
        <p:nvSpPr>
          <p:cNvPr id="11" name="Down Arrow 10"/>
          <p:cNvSpPr/>
          <p:nvPr/>
        </p:nvSpPr>
        <p:spPr>
          <a:xfrm>
            <a:off x="3977639" y="2066544"/>
            <a:ext cx="274320" cy="274319"/>
          </a:xfrm>
          <a:prstGeom prst="downArrow">
            <a:avLst/>
          </a:prstGeom>
          <a:solidFill>
            <a:srgbClr val="C9CF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2377440"/>
            <a:ext cx="6766560" cy="68580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200"/>
              </a:spcAft>
            </a:pPr>
            <a:r>
              <a:rPr sz="1500" b="1" i="0">
                <a:solidFill>
                  <a:srgbClr val="17211B"/>
                </a:solidFill>
                <a:latin typeface="Arial"/>
              </a:rPr>
              <a:t>Adapters: one plug-in per sensor</a:t>
            </a:r>
          </a:p>
          <a:p>
            <a:pPr algn="ctr">
              <a:spcAft>
                <a:spcPts val="0"/>
              </a:spcAft>
            </a:pPr>
            <a:r>
              <a:rPr sz="1200" b="0" i="0">
                <a:solidFill>
                  <a:srgbClr val="46524C"/>
                </a:solidFill>
                <a:latin typeface="Arial"/>
              </a:rPr>
              <a:t>Each turns that system's raw data into the shared model</a:t>
            </a:r>
          </a:p>
        </p:txBody>
      </p:sp>
      <p:sp>
        <p:nvSpPr>
          <p:cNvPr id="13" name="Down Arrow 12"/>
          <p:cNvSpPr/>
          <p:nvPr/>
        </p:nvSpPr>
        <p:spPr>
          <a:xfrm>
            <a:off x="3977639" y="3118104"/>
            <a:ext cx="274320" cy="137160"/>
          </a:xfrm>
          <a:prstGeom prst="downArrow">
            <a:avLst/>
          </a:prstGeom>
          <a:solidFill>
            <a:srgbClr val="C9CF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3291840"/>
            <a:ext cx="6766560" cy="68580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200"/>
              </a:spcAft>
            </a:pPr>
            <a:r>
              <a:rPr sz="1500" b="1" i="0">
                <a:solidFill>
                  <a:srgbClr val="17211B"/>
                </a:solidFill>
                <a:latin typeface="Arial"/>
              </a:rPr>
              <a:t>Shared model: the ontology</a:t>
            </a:r>
          </a:p>
          <a:p>
            <a:pPr algn="ctr">
              <a:spcAft>
                <a:spcPts val="0"/>
              </a:spcAft>
            </a:pPr>
            <a:r>
              <a:rPr sz="1200" b="0" i="0">
                <a:solidFill>
                  <a:srgbClr val="46524C"/>
                </a:solidFill>
                <a:latin typeface="Arial"/>
              </a:rPr>
              <a:t>Course, Item, Textbook: every source speaks the same language</a:t>
            </a:r>
          </a:p>
        </p:txBody>
      </p:sp>
      <p:sp>
        <p:nvSpPr>
          <p:cNvPr id="15" name="Down Arrow 14"/>
          <p:cNvSpPr/>
          <p:nvPr/>
        </p:nvSpPr>
        <p:spPr>
          <a:xfrm>
            <a:off x="3977639" y="4032503"/>
            <a:ext cx="274320" cy="137160"/>
          </a:xfrm>
          <a:prstGeom prst="downArrow">
            <a:avLst/>
          </a:prstGeom>
          <a:solidFill>
            <a:srgbClr val="C9CF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20" y="4206240"/>
            <a:ext cx="6766560" cy="82296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200"/>
              </a:spcAft>
            </a:pPr>
            <a:r>
              <a:rPr sz="1500" b="1" i="0">
                <a:solidFill>
                  <a:srgbClr val="17211B"/>
                </a:solidFill>
                <a:latin typeface="Arial"/>
              </a:rPr>
              <a:t>Fusion: the cross-source join</a:t>
            </a:r>
          </a:p>
          <a:p>
            <a:pPr algn="ctr">
              <a:spcAft>
                <a:spcPts val="0"/>
              </a:spcAft>
            </a:pPr>
            <a:r>
              <a:rPr sz="1200" b="0" i="0">
                <a:solidFill>
                  <a:srgbClr val="46524C"/>
                </a:solidFill>
                <a:latin typeface="Arial"/>
              </a:rPr>
              <a:t>Match course codes, merge duplicates, rank by urgency, flag overdue work</a:t>
            </a:r>
          </a:p>
        </p:txBody>
      </p:sp>
      <p:sp>
        <p:nvSpPr>
          <p:cNvPr id="17" name="Down Arrow 16"/>
          <p:cNvSpPr/>
          <p:nvPr/>
        </p:nvSpPr>
        <p:spPr>
          <a:xfrm>
            <a:off x="3977639" y="5084064"/>
            <a:ext cx="274320" cy="137160"/>
          </a:xfrm>
          <a:prstGeom prst="downArrow">
            <a:avLst/>
          </a:prstGeom>
          <a:solidFill>
            <a:srgbClr val="C9CF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5257800"/>
            <a:ext cx="6766560" cy="731520"/>
          </a:xfrm>
          <a:prstGeom prst="roundRect">
            <a:avLst>
              <a:gd name="adj" fmla="val 8000"/>
            </a:avLst>
          </a:prstGeom>
          <a:solidFill>
            <a:srgbClr val="B840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200"/>
              </a:spcAft>
            </a:pPr>
            <a:r>
              <a:rPr sz="1500" b="1" i="0">
                <a:solidFill>
                  <a:srgbClr val="FFF8F4"/>
                </a:solidFill>
                <a:latin typeface="Arial"/>
              </a:rPr>
              <a:t>One operating picture</a:t>
            </a:r>
          </a:p>
          <a:p>
            <a:pPr algn="ctr">
              <a:spcAft>
                <a:spcPts val="0"/>
              </a:spcAft>
            </a:pPr>
            <a:r>
              <a:rPr sz="1200" b="0" i="0">
                <a:solidFill>
                  <a:srgbClr val="FBE4DA"/>
                </a:solidFill>
                <a:latin typeface="Arial"/>
              </a:rPr>
              <a:t>Overview, Calendar, Schedule, and a calendar feed for your phone</a:t>
            </a:r>
          </a:p>
        </p:txBody>
      </p:sp>
      <p:sp>
        <p:nvSpPr>
          <p:cNvPr id="19" name="Rounded Rectangle 18"/>
          <p:cNvSpPr/>
          <p:nvPr/>
        </p:nvSpPr>
        <p:spPr>
          <a:xfrm>
            <a:off x="8001000" y="1508760"/>
            <a:ext cx="3474720" cy="4480560"/>
          </a:xfrm>
          <a:prstGeom prst="roundRect">
            <a:avLst>
              <a:gd name="adj" fmla="val 8000"/>
            </a:avLst>
          </a:prstGeom>
          <a:solidFill>
            <a:srgbClr val="FDF2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l">
              <a:spcAft>
                <a:spcPts val="1400"/>
              </a:spcAft>
            </a:pPr>
            <a:r>
              <a:rPr sz="1200" b="1" i="0" spc="200">
                <a:solidFill>
                  <a:srgbClr val="B84028"/>
                </a:solidFill>
                <a:latin typeface="Arial"/>
              </a:rPr>
              <a:t>THE IDEA</a:t>
            </a:r>
          </a:p>
          <a:p>
            <a:pPr algn="l">
              <a:spcAft>
                <a:spcPts val="1400"/>
              </a:spcAft>
            </a:pPr>
            <a:r>
              <a:rPr sz="2000" b="0" i="1">
                <a:solidFill>
                  <a:srgbClr val="17211B"/>
                </a:solidFill>
                <a:latin typeface="Arial"/>
              </a:rPr>
              <a:t>"Nine systems, nine logins, nine separate habits. We fuse them into one morning check."</a:t>
            </a:r>
          </a:p>
          <a:p>
            <a:pPr algn="l">
              <a:spcAft>
                <a:spcPts val="0"/>
              </a:spcAft>
            </a:pPr>
            <a:r>
              <a:rPr sz="1400" b="0" i="0">
                <a:solidFill>
                  <a:srgbClr val="46524C"/>
                </a:solidFill>
                <a:latin typeface="Arial"/>
              </a:rPr>
              <a:t>The fusion layer is the product, not any single connector.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TextBox 1"/>
          <p:cNvSpPr txBox="1"/>
          <p:nvPr/>
        </p:nvSpPr>
        <p:spPr>
          <a:xfrm>
            <a:off x="731520" y="457200"/>
            <a:ext cx="10698480" cy="640080"/>
          </a:xfrm>
          <a:prstGeom prst="rect">
            <a:avLst/>
          </a:prstGeom>
          <a:noFill/>
        </p:spPr>
        <p:txBody>
          <a:bodyPr wrap="square" anchor="t" lIns="0" rIns="0" tIns="0" bIns="0">
            <a:spAutoFit/>
          </a:bodyPr>
          <a:lstStyle/>
          <a:p>
            <a:pPr algn="l">
              <a:spcAft>
                <a:spcPts val="0"/>
              </a:spcAft>
            </a:pPr>
            <a:r>
              <a:rPr sz="3600" b="1" i="0">
                <a:solidFill>
                  <a:srgbClr val="17211B"/>
                </a:solidFill>
                <a:latin typeface="Arial"/>
              </a:rPr>
              <a:t>Product demo</a:t>
            </a:r>
          </a:p>
        </p:txBody>
      </p:sp>
      <p:pic>
        <p:nvPicPr>
          <p:cNvPr id="3" name="Picture 2" descr="lauds-web-home.png"/>
          <p:cNvPicPr>
            <a:picLocks noChangeAspect="1"/>
          </p:cNvPicPr>
          <p:nvPr/>
        </p:nvPicPr>
        <p:blipFill>
          <a:blip r:embed="rId2"/>
          <a:stretch>
            <a:fillRect/>
          </a:stretch>
        </p:blipFill>
        <p:spPr>
          <a:xfrm>
            <a:off x="731520" y="1325880"/>
            <a:ext cx="5212080" cy="3257550"/>
          </a:xfrm>
          <a:prstGeom prst="rect">
            <a:avLst/>
          </a:prstGeom>
          <a:ln w="12700">
            <a:solidFill>
              <a:srgbClr val="E4E9E5"/>
            </a:solidFill>
          </a:ln>
        </p:spPr>
      </p:pic>
      <p:sp>
        <p:nvSpPr>
          <p:cNvPr id="4" name="TextBox 3"/>
          <p:cNvSpPr txBox="1"/>
          <p:nvPr/>
        </p:nvSpPr>
        <p:spPr>
          <a:xfrm>
            <a:off x="731520" y="4754880"/>
            <a:ext cx="5212080" cy="1188720"/>
          </a:xfrm>
          <a:prstGeom prst="rect">
            <a:avLst/>
          </a:prstGeom>
          <a:noFill/>
        </p:spPr>
        <p:txBody>
          <a:bodyPr wrap="square" anchor="t" lIns="0" rIns="0" tIns="0" bIns="0">
            <a:spAutoFit/>
          </a:bodyPr>
          <a:lstStyle/>
          <a:p>
            <a:pPr algn="l">
              <a:spcAft>
                <a:spcPts val="600"/>
              </a:spcAft>
            </a:pPr>
            <a:r>
              <a:rPr sz="1800" b="1" i="0">
                <a:solidFill>
                  <a:srgbClr val="17211B"/>
                </a:solidFill>
                <a:latin typeface="Arial"/>
              </a:rPr>
              <a:t>Every deadline, one ranked list</a:t>
            </a:r>
          </a:p>
          <a:p>
            <a:pPr algn="l">
              <a:spcAft>
                <a:spcPts val="0"/>
              </a:spcAft>
            </a:pPr>
            <a:r>
              <a:rPr sz="1400" b="0" i="0">
                <a:solidFill>
                  <a:srgbClr val="46524C"/>
                </a:solidFill>
                <a:latin typeface="Arial"/>
              </a:rPr>
              <a:t>Top assignments across every platform, ranked by real urgency, not just a due-date sort.</a:t>
            </a:r>
          </a:p>
        </p:txBody>
      </p:sp>
      <p:pic>
        <p:nvPicPr>
          <p:cNvPr id="5" name="Picture 4" descr="lauds-web-calendar.png"/>
          <p:cNvPicPr>
            <a:picLocks noChangeAspect="1"/>
          </p:cNvPicPr>
          <p:nvPr/>
        </p:nvPicPr>
        <p:blipFill>
          <a:blip r:embed="rId3"/>
          <a:stretch>
            <a:fillRect/>
          </a:stretch>
        </p:blipFill>
        <p:spPr>
          <a:xfrm>
            <a:off x="6217920" y="1325880"/>
            <a:ext cx="5212080" cy="3257550"/>
          </a:xfrm>
          <a:prstGeom prst="rect">
            <a:avLst/>
          </a:prstGeom>
          <a:ln w="12700">
            <a:solidFill>
              <a:srgbClr val="E4E9E5"/>
            </a:solidFill>
          </a:ln>
        </p:spPr>
      </p:pic>
      <p:sp>
        <p:nvSpPr>
          <p:cNvPr id="6" name="TextBox 5"/>
          <p:cNvSpPr txBox="1"/>
          <p:nvPr/>
        </p:nvSpPr>
        <p:spPr>
          <a:xfrm>
            <a:off x="6217920" y="4754880"/>
            <a:ext cx="5212080" cy="1188720"/>
          </a:xfrm>
          <a:prstGeom prst="rect">
            <a:avLst/>
          </a:prstGeom>
          <a:noFill/>
        </p:spPr>
        <p:txBody>
          <a:bodyPr wrap="square" anchor="t" lIns="0" rIns="0" tIns="0" bIns="0">
            <a:spAutoFit/>
          </a:bodyPr>
          <a:lstStyle/>
          <a:p>
            <a:pPr algn="l">
              <a:spcAft>
                <a:spcPts val="600"/>
              </a:spcAft>
            </a:pPr>
            <a:r>
              <a:rPr sz="1800" b="1" i="0">
                <a:solidFill>
                  <a:srgbClr val="17211B"/>
                </a:solidFill>
                <a:latin typeface="Arial"/>
              </a:rPr>
              <a:t>One calendar, every course</a:t>
            </a:r>
          </a:p>
          <a:p>
            <a:pPr algn="l">
              <a:spcAft>
                <a:spcPts val="0"/>
              </a:spcAft>
            </a:pPr>
            <a:r>
              <a:rPr sz="1400" b="0" i="0">
                <a:solidFill>
                  <a:srgbClr val="46524C"/>
                </a:solidFill>
                <a:latin typeface="Arial"/>
              </a:rPr>
              <a:t>A real month grid, not a list, and it exports as a calendar feed for Apple, Google or Outlook.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TextBox 1"/>
          <p:cNvSpPr txBox="1"/>
          <p:nvPr/>
        </p:nvSpPr>
        <p:spPr>
          <a:xfrm>
            <a:off x="731520" y="457200"/>
            <a:ext cx="10698480" cy="320040"/>
          </a:xfrm>
          <a:prstGeom prst="rect">
            <a:avLst/>
          </a:prstGeom>
          <a:noFill/>
        </p:spPr>
        <p:txBody>
          <a:bodyPr wrap="square" anchor="t" lIns="0" rIns="0" tIns="0" bIns="0">
            <a:spAutoFit/>
          </a:bodyPr>
          <a:lstStyle/>
          <a:p>
            <a:pPr algn="l">
              <a:spcAft>
                <a:spcPts val="0"/>
              </a:spcAft>
            </a:pPr>
            <a:r>
              <a:rPr sz="1300" b="1" i="0" spc="300">
                <a:solidFill>
                  <a:srgbClr val="B84028"/>
                </a:solidFill>
                <a:latin typeface="Arial"/>
              </a:rPr>
              <a:t>LIVE DEMO</a:t>
            </a:r>
          </a:p>
        </p:txBody>
      </p:sp>
      <p:sp>
        <p:nvSpPr>
          <p:cNvPr id="3" name="TextBox 2"/>
          <p:cNvSpPr txBox="1"/>
          <p:nvPr/>
        </p:nvSpPr>
        <p:spPr>
          <a:xfrm>
            <a:off x="731520" y="777240"/>
            <a:ext cx="10698480" cy="640080"/>
          </a:xfrm>
          <a:prstGeom prst="rect">
            <a:avLst/>
          </a:prstGeom>
          <a:noFill/>
        </p:spPr>
        <p:txBody>
          <a:bodyPr wrap="square" anchor="t" lIns="0" rIns="0" tIns="0" bIns="0">
            <a:spAutoFit/>
          </a:bodyPr>
          <a:lstStyle/>
          <a:p>
            <a:pPr algn="l">
              <a:spcAft>
                <a:spcPts val="0"/>
              </a:spcAft>
            </a:pPr>
            <a:r>
              <a:rPr sz="3200" b="1" i="0">
                <a:solidFill>
                  <a:srgbClr val="17211B"/>
                </a:solidFill>
                <a:latin typeface="Arial"/>
              </a:rPr>
              <a:t>The demo in six clicks</a:t>
            </a:r>
          </a:p>
        </p:txBody>
      </p:sp>
      <p:sp>
        <p:nvSpPr>
          <p:cNvPr id="4" name="Rounded Rectangle 3"/>
          <p:cNvSpPr/>
          <p:nvPr/>
        </p:nvSpPr>
        <p:spPr>
          <a:xfrm>
            <a:off x="731520" y="1691640"/>
            <a:ext cx="3429000" cy="201168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777240" bIns="228600"/>
          <a:lstStyle/>
          <a:p>
            <a:pPr algn="l">
              <a:spcAft>
                <a:spcPts val="0"/>
              </a:spcAft>
            </a:pPr>
            <a:r>
              <a:rPr sz="800" b="0" i="0">
                <a:solidFill>
                  <a:srgbClr val="17211B"/>
                </a:solidFill>
                <a:latin typeface="Arial"/>
              </a:rPr>
              <a:t/>
            </a:r>
          </a:p>
          <a:p>
            <a:pPr algn="l">
              <a:spcAft>
                <a:spcPts val="600"/>
              </a:spcAft>
            </a:pPr>
            <a:r>
              <a:rPr sz="1700" b="1" i="0">
                <a:solidFill>
                  <a:srgbClr val="17211B"/>
                </a:solidFill>
                <a:latin typeface="Arial"/>
              </a:rPr>
              <a:t>Overview</a:t>
            </a:r>
          </a:p>
          <a:p>
            <a:pPr algn="l">
              <a:spcAft>
                <a:spcPts val="0"/>
              </a:spcAft>
            </a:pPr>
            <a:r>
              <a:rPr sz="1300" b="0" i="0">
                <a:solidFill>
                  <a:srgbClr val="46524C"/>
                </a:solidFill>
                <a:latin typeface="Arial"/>
              </a:rPr>
              <a:t>About 25 due this week, 5 overdue. One picture before any other tab.</a:t>
            </a:r>
          </a:p>
        </p:txBody>
      </p:sp>
      <p:sp>
        <p:nvSpPr>
          <p:cNvPr id="5" name="Oval 4"/>
          <p:cNvSpPr/>
          <p:nvPr/>
        </p:nvSpPr>
        <p:spPr>
          <a:xfrm>
            <a:off x="960120" y="1920240"/>
            <a:ext cx="457200" cy="457200"/>
          </a:xfrm>
          <a:prstGeom prst="ellipse">
            <a:avLst/>
          </a:prstGeom>
          <a:solidFill>
            <a:srgbClr val="B840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600" b="1" i="0">
                <a:solidFill>
                  <a:srgbClr val="FFF8F4"/>
                </a:solidFill>
                <a:latin typeface="Arial"/>
              </a:rPr>
              <a:t>1</a:t>
            </a:r>
          </a:p>
        </p:txBody>
      </p:sp>
      <p:sp>
        <p:nvSpPr>
          <p:cNvPr id="6" name="Rounded Rectangle 5"/>
          <p:cNvSpPr/>
          <p:nvPr/>
        </p:nvSpPr>
        <p:spPr>
          <a:xfrm>
            <a:off x="4389120" y="1691640"/>
            <a:ext cx="3429000" cy="201168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777240" bIns="228600"/>
          <a:lstStyle/>
          <a:p>
            <a:pPr algn="l">
              <a:spcAft>
                <a:spcPts val="0"/>
              </a:spcAft>
            </a:pPr>
            <a:r>
              <a:rPr sz="800" b="0" i="0">
                <a:solidFill>
                  <a:srgbClr val="17211B"/>
                </a:solidFill>
                <a:latin typeface="Arial"/>
              </a:rPr>
              <a:t/>
            </a:r>
          </a:p>
          <a:p>
            <a:pPr algn="l">
              <a:spcAft>
                <a:spcPts val="600"/>
              </a:spcAft>
            </a:pPr>
            <a:r>
              <a:rPr sz="1700" b="1" i="0">
                <a:solidFill>
                  <a:srgbClr val="17211B"/>
                </a:solidFill>
                <a:latin typeface="Arial"/>
              </a:rPr>
              <a:t>Top assignments</a:t>
            </a:r>
          </a:p>
          <a:p>
            <a:pPr algn="l">
              <a:spcAft>
                <a:spcPts val="0"/>
              </a:spcAft>
            </a:pPr>
            <a:r>
              <a:rPr sz="1300" b="0" i="0">
                <a:solidFill>
                  <a:srgbClr val="46524C"/>
                </a:solidFill>
                <a:latin typeface="Arial"/>
              </a:rPr>
              <a:t>The five most urgent across every course, ranked by urgency. Each links back to its platform.</a:t>
            </a:r>
          </a:p>
        </p:txBody>
      </p:sp>
      <p:sp>
        <p:nvSpPr>
          <p:cNvPr id="7" name="Oval 6"/>
          <p:cNvSpPr/>
          <p:nvPr/>
        </p:nvSpPr>
        <p:spPr>
          <a:xfrm>
            <a:off x="4617720" y="1920240"/>
            <a:ext cx="457200" cy="457200"/>
          </a:xfrm>
          <a:prstGeom prst="ellipse">
            <a:avLst/>
          </a:prstGeom>
          <a:solidFill>
            <a:srgbClr val="B840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600" b="1" i="0">
                <a:solidFill>
                  <a:srgbClr val="FFF8F4"/>
                </a:solidFill>
                <a:latin typeface="Arial"/>
              </a:rPr>
              <a:t>2</a:t>
            </a:r>
          </a:p>
        </p:txBody>
      </p:sp>
      <p:sp>
        <p:nvSpPr>
          <p:cNvPr id="8" name="Rounded Rectangle 7"/>
          <p:cNvSpPr/>
          <p:nvPr/>
        </p:nvSpPr>
        <p:spPr>
          <a:xfrm>
            <a:off x="8046720" y="1691640"/>
            <a:ext cx="3429000" cy="201168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777240" bIns="228600"/>
          <a:lstStyle/>
          <a:p>
            <a:pPr algn="l">
              <a:spcAft>
                <a:spcPts val="0"/>
              </a:spcAft>
            </a:pPr>
            <a:r>
              <a:rPr sz="800" b="0" i="0">
                <a:solidFill>
                  <a:srgbClr val="17211B"/>
                </a:solidFill>
                <a:latin typeface="Arial"/>
              </a:rPr>
              <a:t/>
            </a:r>
          </a:p>
          <a:p>
            <a:pPr algn="l">
              <a:spcAft>
                <a:spcPts val="600"/>
              </a:spcAft>
            </a:pPr>
            <a:r>
              <a:rPr sz="1700" b="1" i="0">
                <a:solidFill>
                  <a:srgbClr val="17211B"/>
                </a:solidFill>
                <a:latin typeface="Arial"/>
              </a:rPr>
              <a:t>Assignments</a:t>
            </a:r>
          </a:p>
          <a:p>
            <a:pPr algn="l">
              <a:spcAft>
                <a:spcPts val="0"/>
              </a:spcAft>
            </a:pPr>
            <a:r>
              <a:rPr sz="1300" b="0" i="0">
                <a:solidFill>
                  <a:srgbClr val="46524C"/>
                </a:solidFill>
                <a:latin typeface="Arial"/>
              </a:rPr>
              <a:t>Quiz 3 was posted on Canvas and PrairieLearn. It shows once: that's fusion.</a:t>
            </a:r>
          </a:p>
        </p:txBody>
      </p:sp>
      <p:sp>
        <p:nvSpPr>
          <p:cNvPr id="9" name="Oval 8"/>
          <p:cNvSpPr/>
          <p:nvPr/>
        </p:nvSpPr>
        <p:spPr>
          <a:xfrm>
            <a:off x="8275320" y="1920240"/>
            <a:ext cx="457200" cy="457200"/>
          </a:xfrm>
          <a:prstGeom prst="ellipse">
            <a:avLst/>
          </a:prstGeom>
          <a:solidFill>
            <a:srgbClr val="B840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600" b="1" i="0">
                <a:solidFill>
                  <a:srgbClr val="FFF8F4"/>
                </a:solidFill>
                <a:latin typeface="Arial"/>
              </a:rPr>
              <a:t>3</a:t>
            </a:r>
          </a:p>
        </p:txBody>
      </p:sp>
      <p:sp>
        <p:nvSpPr>
          <p:cNvPr id="10" name="Rounded Rectangle 9"/>
          <p:cNvSpPr/>
          <p:nvPr/>
        </p:nvSpPr>
        <p:spPr>
          <a:xfrm>
            <a:off x="731520" y="3931920"/>
            <a:ext cx="3429000" cy="201168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777240" bIns="228600"/>
          <a:lstStyle/>
          <a:p>
            <a:pPr algn="l">
              <a:spcAft>
                <a:spcPts val="0"/>
              </a:spcAft>
            </a:pPr>
            <a:r>
              <a:rPr sz="800" b="0" i="0">
                <a:solidFill>
                  <a:srgbClr val="17211B"/>
                </a:solidFill>
                <a:latin typeface="Arial"/>
              </a:rPr>
              <a:t/>
            </a:r>
          </a:p>
          <a:p>
            <a:pPr algn="l">
              <a:spcAft>
                <a:spcPts val="600"/>
              </a:spcAft>
            </a:pPr>
            <a:r>
              <a:rPr sz="1700" b="1" i="0">
                <a:solidFill>
                  <a:srgbClr val="17211B"/>
                </a:solidFill>
                <a:latin typeface="Arial"/>
              </a:rPr>
              <a:t>Calendar, then Monday</a:t>
            </a:r>
          </a:p>
          <a:p>
            <a:pPr algn="l">
              <a:spcAft>
                <a:spcPts val="0"/>
              </a:spcAft>
            </a:pPr>
            <a:r>
              <a:rPr sz="1300" b="0" i="0">
                <a:solidFill>
                  <a:srgbClr val="46524C"/>
                </a:solidFill>
                <a:latin typeface="Arial"/>
              </a:rPr>
              <a:t>A lecture, a lab and about 11 deadlines from four platforms, in one list.</a:t>
            </a:r>
          </a:p>
        </p:txBody>
      </p:sp>
      <p:sp>
        <p:nvSpPr>
          <p:cNvPr id="11" name="Oval 10"/>
          <p:cNvSpPr/>
          <p:nvPr/>
        </p:nvSpPr>
        <p:spPr>
          <a:xfrm>
            <a:off x="960120" y="4160520"/>
            <a:ext cx="457200" cy="457200"/>
          </a:xfrm>
          <a:prstGeom prst="ellipse">
            <a:avLst/>
          </a:prstGeom>
          <a:solidFill>
            <a:srgbClr val="B840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600" b="1" i="0">
                <a:solidFill>
                  <a:srgbClr val="FFF8F4"/>
                </a:solidFill>
                <a:latin typeface="Arial"/>
              </a:rPr>
              <a:t>4</a:t>
            </a:r>
          </a:p>
        </p:txBody>
      </p:sp>
      <p:sp>
        <p:nvSpPr>
          <p:cNvPr id="12" name="Rounded Rectangle 11"/>
          <p:cNvSpPr/>
          <p:nvPr/>
        </p:nvSpPr>
        <p:spPr>
          <a:xfrm>
            <a:off x="4389120" y="3931920"/>
            <a:ext cx="3429000" cy="201168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777240" bIns="228600"/>
          <a:lstStyle/>
          <a:p>
            <a:pPr algn="l">
              <a:spcAft>
                <a:spcPts val="0"/>
              </a:spcAft>
            </a:pPr>
            <a:r>
              <a:rPr sz="800" b="0" i="0">
                <a:solidFill>
                  <a:srgbClr val="17211B"/>
                </a:solidFill>
                <a:latin typeface="Arial"/>
              </a:rPr>
              <a:t/>
            </a:r>
          </a:p>
          <a:p>
            <a:pPr algn="l">
              <a:spcAft>
                <a:spcPts val="600"/>
              </a:spcAft>
            </a:pPr>
            <a:r>
              <a:rPr sz="1700" b="1" i="0">
                <a:solidFill>
                  <a:srgbClr val="17211B"/>
                </a:solidFill>
                <a:latin typeface="Arial"/>
              </a:rPr>
              <a:t>Schedule</a:t>
            </a:r>
          </a:p>
          <a:p>
            <a:pPr algn="l">
              <a:spcAft>
                <a:spcPts val="0"/>
              </a:spcAft>
            </a:pPr>
            <a:r>
              <a:rPr sz="1300" b="0" i="0">
                <a:solidFill>
                  <a:srgbClr val="46524C"/>
                </a:solidFill>
                <a:latin typeface="Arial"/>
              </a:rPr>
              <a:t>The weekly timetable from Workday, next to the work it's for.</a:t>
            </a:r>
          </a:p>
        </p:txBody>
      </p:sp>
      <p:sp>
        <p:nvSpPr>
          <p:cNvPr id="13" name="Oval 12"/>
          <p:cNvSpPr/>
          <p:nvPr/>
        </p:nvSpPr>
        <p:spPr>
          <a:xfrm>
            <a:off x="4617720" y="4160520"/>
            <a:ext cx="457200" cy="457200"/>
          </a:xfrm>
          <a:prstGeom prst="ellipse">
            <a:avLst/>
          </a:prstGeom>
          <a:solidFill>
            <a:srgbClr val="B840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600" b="1" i="0">
                <a:solidFill>
                  <a:srgbClr val="FFF8F4"/>
                </a:solidFill>
                <a:latin typeface="Arial"/>
              </a:rPr>
              <a:t>5</a:t>
            </a:r>
          </a:p>
        </p:txBody>
      </p:sp>
      <p:sp>
        <p:nvSpPr>
          <p:cNvPr id="14" name="Rounded Rectangle 13"/>
          <p:cNvSpPr/>
          <p:nvPr/>
        </p:nvSpPr>
        <p:spPr>
          <a:xfrm>
            <a:off x="8046720" y="3931920"/>
            <a:ext cx="3429000" cy="201168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777240" bIns="228600"/>
          <a:lstStyle/>
          <a:p>
            <a:pPr algn="l">
              <a:spcAft>
                <a:spcPts val="0"/>
              </a:spcAft>
            </a:pPr>
            <a:r>
              <a:rPr sz="800" b="0" i="0">
                <a:solidFill>
                  <a:srgbClr val="17211B"/>
                </a:solidFill>
                <a:latin typeface="Arial"/>
              </a:rPr>
              <a:t/>
            </a:r>
          </a:p>
          <a:p>
            <a:pPr algn="l">
              <a:spcAft>
                <a:spcPts val="600"/>
              </a:spcAft>
            </a:pPr>
            <a:r>
              <a:rPr sz="1700" b="1" i="0">
                <a:solidFill>
                  <a:srgbClr val="17211B"/>
                </a:solidFill>
                <a:latin typeface="Arial"/>
              </a:rPr>
              <a:t>Settings, Connections</a:t>
            </a:r>
          </a:p>
          <a:p>
            <a:pPr algn="l">
              <a:spcAft>
                <a:spcPts val="0"/>
              </a:spcAft>
            </a:pPr>
            <a:r>
              <a:rPr sz="1300" b="0" i="0">
                <a:solidFill>
                  <a:srgbClr val="46524C"/>
                </a:solidFill>
                <a:latin typeface="Arial"/>
              </a:rPr>
              <a:t>Every sensor is a plug-in. A new platform or school is one adapter.</a:t>
            </a:r>
          </a:p>
        </p:txBody>
      </p:sp>
      <p:sp>
        <p:nvSpPr>
          <p:cNvPr id="15" name="Oval 14"/>
          <p:cNvSpPr/>
          <p:nvPr/>
        </p:nvSpPr>
        <p:spPr>
          <a:xfrm>
            <a:off x="8275320" y="4160520"/>
            <a:ext cx="457200" cy="457200"/>
          </a:xfrm>
          <a:prstGeom prst="ellipse">
            <a:avLst/>
          </a:prstGeom>
          <a:solidFill>
            <a:srgbClr val="B840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600" b="1" i="0">
                <a:solidFill>
                  <a:srgbClr val="FFF8F4"/>
                </a:solidFill>
                <a:latin typeface="Arial"/>
              </a:rPr>
              <a:t>6</a:t>
            </a:r>
          </a:p>
        </p:txBody>
      </p:sp>
      <p:sp>
        <p:nvSpPr>
          <p:cNvPr id="16" name="TextBox 15"/>
          <p:cNvSpPr txBox="1"/>
          <p:nvPr/>
        </p:nvSpPr>
        <p:spPr>
          <a:xfrm>
            <a:off x="731520" y="6217920"/>
            <a:ext cx="10698480" cy="320040"/>
          </a:xfrm>
          <a:prstGeom prst="rect">
            <a:avLst/>
          </a:prstGeom>
          <a:noFill/>
        </p:spPr>
        <p:txBody>
          <a:bodyPr wrap="square" anchor="t" lIns="0" rIns="0" tIns="0" bIns="0">
            <a:spAutoFit/>
          </a:bodyPr>
          <a:lstStyle/>
          <a:p>
            <a:pPr algn="l">
              <a:spcAft>
                <a:spcPts val="0"/>
              </a:spcAft>
            </a:pPr>
            <a:r>
              <a:rPr sz="1200" b="0" i="0">
                <a:solidFill>
                  <a:srgbClr val="5F6B65"/>
                </a:solidFill>
                <a:latin typeface="Arial"/>
              </a:rPr>
              <a:t>hello-hacks26-terraceonhigh.vercel.app  ·  opens on a made-up demo student, week 5 of a 13-week term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anchor="t" lIns="0" rIns="0" tIns="0" bIns="0">
            <a:spAutoFit/>
          </a:bodyPr>
          <a:lstStyle/>
          <a:p>
            <a:pPr algn="l">
              <a:spcAft>
                <a:spcPts val="0"/>
              </a:spcAft>
            </a:pPr>
            <a:r>
              <a:rPr sz="1300" b="1" i="0" spc="300">
                <a:solidFill>
                  <a:srgbClr val="B84028"/>
                </a:solidFill>
                <a:latin typeface="Arial"/>
              </a:rPr>
              <a:t>HOW IT WORKS</a:t>
            </a:r>
          </a:p>
        </p:txBody>
      </p:sp>
      <p:sp>
        <p:nvSpPr>
          <p:cNvPr id="3" name="TextBox 2"/>
          <p:cNvSpPr txBox="1"/>
          <p:nvPr/>
        </p:nvSpPr>
        <p:spPr>
          <a:xfrm>
            <a:off x="731520" y="731520"/>
            <a:ext cx="10698480" cy="640080"/>
          </a:xfrm>
          <a:prstGeom prst="rect">
            <a:avLst/>
          </a:prstGeom>
          <a:noFill/>
        </p:spPr>
        <p:txBody>
          <a:bodyPr wrap="square" anchor="t" lIns="0" rIns="0" tIns="0" bIns="0">
            <a:spAutoFit/>
          </a:bodyPr>
          <a:lstStyle/>
          <a:p>
            <a:pPr algn="l">
              <a:spcAft>
                <a:spcPts val="0"/>
              </a:spcAft>
            </a:pPr>
            <a:r>
              <a:rPr sz="3400" b="1" i="0">
                <a:solidFill>
                  <a:srgbClr val="17211B"/>
                </a:solidFill>
                <a:latin typeface="Arial"/>
              </a:rPr>
              <a:t>One shared model for every sensor.</a:t>
            </a:r>
          </a:p>
        </p:txBody>
      </p:sp>
      <p:sp>
        <p:nvSpPr>
          <p:cNvPr id="4" name="Rounded Rectangle 3"/>
          <p:cNvSpPr/>
          <p:nvPr/>
        </p:nvSpPr>
        <p:spPr>
          <a:xfrm>
            <a:off x="2438247" y="1600200"/>
            <a:ext cx="7315200" cy="105156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400"/>
              </a:spcAft>
            </a:pPr>
            <a:r>
              <a:rPr sz="1800" b="1" i="0">
                <a:solidFill>
                  <a:srgbClr val="17211B"/>
                </a:solidFill>
                <a:latin typeface="Arial"/>
              </a:rPr>
              <a:t>Any Sensor</a:t>
            </a:r>
          </a:p>
          <a:p>
            <a:pPr algn="ctr">
              <a:spcAft>
                <a:spcPts val="0"/>
              </a:spcAft>
            </a:pPr>
            <a:r>
              <a:rPr sz="1300" b="0" i="0">
                <a:solidFill>
                  <a:srgbClr val="5F6B65"/>
                </a:solidFill>
                <a:latin typeface="Arial"/>
              </a:rPr>
              <a:t>Canvas · Workday · UBC Bookstore · Brightspace · WeBWorK · PrairieLearn, with 8 more coming</a:t>
            </a:r>
          </a:p>
        </p:txBody>
      </p:sp>
      <p:sp>
        <p:nvSpPr>
          <p:cNvPr id="5" name="Down Arrow 4"/>
          <p:cNvSpPr/>
          <p:nvPr/>
        </p:nvSpPr>
        <p:spPr>
          <a:xfrm>
            <a:off x="5958687" y="2697480"/>
            <a:ext cx="274320" cy="365760"/>
          </a:xfrm>
          <a:prstGeom prst="downArrow">
            <a:avLst/>
          </a:prstGeom>
          <a:solidFill>
            <a:srgbClr val="B84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581247" y="3108960"/>
            <a:ext cx="5029200" cy="868680"/>
          </a:xfrm>
          <a:prstGeom prst="roundRect">
            <a:avLst>
              <a:gd name="adj" fmla="val 8000"/>
            </a:avLst>
          </a:prstGeom>
          <a:solidFill>
            <a:srgbClr val="B840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201168" bIns="201168"/>
          <a:lstStyle/>
          <a:p>
            <a:pPr algn="ctr">
              <a:spcAft>
                <a:spcPts val="0"/>
              </a:spcAft>
            </a:pPr>
            <a:r>
              <a:rPr sz="2400" b="1" i="0">
                <a:solidFill>
                  <a:srgbClr val="FFF8F4"/>
                </a:solidFill>
                <a:latin typeface="Arial"/>
              </a:rPr>
              <a:t>Adapters and Fusion</a:t>
            </a:r>
          </a:p>
        </p:txBody>
      </p:sp>
      <p:sp>
        <p:nvSpPr>
          <p:cNvPr id="7" name="Down Arrow 6"/>
          <p:cNvSpPr/>
          <p:nvPr/>
        </p:nvSpPr>
        <p:spPr>
          <a:xfrm>
            <a:off x="5958687" y="4023360"/>
            <a:ext cx="274320" cy="365760"/>
          </a:xfrm>
          <a:prstGeom prst="downArrow">
            <a:avLst/>
          </a:prstGeom>
          <a:solidFill>
            <a:srgbClr val="B84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175607" y="4434840"/>
            <a:ext cx="3840480" cy="73152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201168" bIns="201168"/>
          <a:lstStyle/>
          <a:p>
            <a:pPr algn="ctr">
              <a:spcAft>
                <a:spcPts val="0"/>
              </a:spcAft>
            </a:pPr>
            <a:r>
              <a:rPr sz="1800" b="1" i="0">
                <a:solidFill>
                  <a:srgbClr val="17211B"/>
                </a:solidFill>
                <a:latin typeface="Arial"/>
              </a:rPr>
              <a:t>Standardized Database</a:t>
            </a:r>
          </a:p>
        </p:txBody>
      </p:sp>
      <p:sp>
        <p:nvSpPr>
          <p:cNvPr id="9" name="Down Arrow 8"/>
          <p:cNvSpPr/>
          <p:nvPr/>
        </p:nvSpPr>
        <p:spPr>
          <a:xfrm>
            <a:off x="4312767" y="5212080"/>
            <a:ext cx="274320" cy="365760"/>
          </a:xfrm>
          <a:prstGeom prst="downArrow">
            <a:avLst/>
          </a:prstGeom>
          <a:solidFill>
            <a:srgbClr val="B84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wn Arrow 9"/>
          <p:cNvSpPr/>
          <p:nvPr/>
        </p:nvSpPr>
        <p:spPr>
          <a:xfrm>
            <a:off x="7604607" y="5212080"/>
            <a:ext cx="274320" cy="365760"/>
          </a:xfrm>
          <a:prstGeom prst="downArrow">
            <a:avLst/>
          </a:prstGeom>
          <a:solidFill>
            <a:srgbClr val="B84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712567" y="5623560"/>
            <a:ext cx="3017520" cy="73152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201168" bIns="201168"/>
          <a:lstStyle/>
          <a:p>
            <a:pPr algn="ctr">
              <a:spcAft>
                <a:spcPts val="0"/>
              </a:spcAft>
            </a:pPr>
            <a:r>
              <a:rPr sz="1600" b="1" i="0">
                <a:solidFill>
                  <a:srgbClr val="17211B"/>
                </a:solidFill>
                <a:latin typeface="Arial"/>
              </a:rPr>
              <a:t>Lauds Web (Next.js)</a:t>
            </a:r>
          </a:p>
        </p:txBody>
      </p:sp>
      <p:sp>
        <p:nvSpPr>
          <p:cNvPr id="12" name="Rounded Rectangle 11"/>
          <p:cNvSpPr/>
          <p:nvPr/>
        </p:nvSpPr>
        <p:spPr>
          <a:xfrm>
            <a:off x="6461607" y="5623560"/>
            <a:ext cx="3017520" cy="73152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201168" bIns="201168"/>
          <a:lstStyle/>
          <a:p>
            <a:pPr algn="ctr">
              <a:spcAft>
                <a:spcPts val="0"/>
              </a:spcAft>
            </a:pPr>
            <a:r>
              <a:rPr sz="1500" b="1" i="0">
                <a:solidFill>
                  <a:srgbClr val="17211B"/>
                </a:solidFill>
                <a:latin typeface="Arial"/>
              </a:rPr>
              <a:t>Streamlit + .ics calendar feed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anchor="t" lIns="0" rIns="0" tIns="0" bIns="0">
            <a:spAutoFit/>
          </a:bodyPr>
          <a:lstStyle/>
          <a:p>
            <a:pPr algn="l">
              <a:spcAft>
                <a:spcPts val="0"/>
              </a:spcAft>
            </a:pPr>
            <a:r>
              <a:rPr sz="3000" b="1" i="0">
                <a:solidFill>
                  <a:srgbClr val="17211B"/>
                </a:solidFill>
                <a:latin typeface="Arial"/>
              </a:rPr>
              <a:t>14 platforms in the pipeline. 1 student who never has to think about which one.</a:t>
            </a:r>
          </a:p>
        </p:txBody>
      </p:sp>
      <p:sp>
        <p:nvSpPr>
          <p:cNvPr id="3" name="Rounded Rectangle 2"/>
          <p:cNvSpPr/>
          <p:nvPr/>
        </p:nvSpPr>
        <p:spPr>
          <a:xfrm>
            <a:off x="777240" y="1874519"/>
            <a:ext cx="1417320" cy="1234440"/>
          </a:xfrm>
          <a:prstGeom prst="roundRect">
            <a:avLst>
              <a:gd name="adj" fmla="val 8000"/>
            </a:avLst>
          </a:prstGeom>
          <a:solidFill>
            <a:srgbClr val="E39A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300" b="1" i="0">
                <a:solidFill>
                  <a:srgbClr val="17211B"/>
                </a:solidFill>
                <a:latin typeface="Arial"/>
              </a:rPr>
              <a:t>Canvas</a:t>
            </a:r>
          </a:p>
        </p:txBody>
      </p:sp>
      <p:sp>
        <p:nvSpPr>
          <p:cNvPr id="4" name="Rounded Rectangle 3"/>
          <p:cNvSpPr/>
          <p:nvPr/>
        </p:nvSpPr>
        <p:spPr>
          <a:xfrm>
            <a:off x="2313432" y="1874519"/>
            <a:ext cx="1417320" cy="1234440"/>
          </a:xfrm>
          <a:prstGeom prst="roundRect">
            <a:avLst>
              <a:gd name="adj" fmla="val 8000"/>
            </a:avLst>
          </a:prstGeom>
          <a:solidFill>
            <a:srgbClr val="E39A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300" b="1" i="0">
                <a:solidFill>
                  <a:srgbClr val="17211B"/>
                </a:solidFill>
                <a:latin typeface="Arial"/>
              </a:rPr>
              <a:t>Workday</a:t>
            </a:r>
          </a:p>
        </p:txBody>
      </p:sp>
      <p:sp>
        <p:nvSpPr>
          <p:cNvPr id="5" name="Rounded Rectangle 4"/>
          <p:cNvSpPr/>
          <p:nvPr/>
        </p:nvSpPr>
        <p:spPr>
          <a:xfrm>
            <a:off x="3849624" y="1874519"/>
            <a:ext cx="1417320" cy="1234440"/>
          </a:xfrm>
          <a:prstGeom prst="roundRect">
            <a:avLst>
              <a:gd name="adj" fmla="val 8000"/>
            </a:avLst>
          </a:prstGeom>
          <a:solidFill>
            <a:srgbClr val="E39A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300" b="1" i="0">
                <a:solidFill>
                  <a:srgbClr val="17211B"/>
                </a:solidFill>
                <a:latin typeface="Arial"/>
              </a:rPr>
              <a:t>UBC Bookstore</a:t>
            </a:r>
          </a:p>
        </p:txBody>
      </p:sp>
      <p:sp>
        <p:nvSpPr>
          <p:cNvPr id="6" name="Rounded Rectangle 5"/>
          <p:cNvSpPr/>
          <p:nvPr/>
        </p:nvSpPr>
        <p:spPr>
          <a:xfrm>
            <a:off x="5385816" y="1874519"/>
            <a:ext cx="1417320" cy="1234440"/>
          </a:xfrm>
          <a:prstGeom prst="roundRect">
            <a:avLst>
              <a:gd name="adj" fmla="val 8000"/>
            </a:avLst>
          </a:prstGeom>
          <a:solidFill>
            <a:srgbClr val="E39A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300" b="1" i="0">
                <a:solidFill>
                  <a:srgbClr val="17211B"/>
                </a:solidFill>
                <a:latin typeface="Arial"/>
              </a:rPr>
              <a:t>PrairieLearn</a:t>
            </a:r>
          </a:p>
        </p:txBody>
      </p:sp>
      <p:sp>
        <p:nvSpPr>
          <p:cNvPr id="7" name="Rounded Rectangle 6"/>
          <p:cNvSpPr/>
          <p:nvPr/>
        </p:nvSpPr>
        <p:spPr>
          <a:xfrm>
            <a:off x="6922007" y="1874519"/>
            <a:ext cx="1417320" cy="1234440"/>
          </a:xfrm>
          <a:prstGeom prst="roundRect">
            <a:avLst>
              <a:gd name="adj" fmla="val 8000"/>
            </a:avLst>
          </a:prstGeom>
          <a:solidFill>
            <a:srgbClr val="E39A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300" b="1" i="0">
                <a:solidFill>
                  <a:srgbClr val="17211B"/>
                </a:solidFill>
                <a:latin typeface="Arial"/>
              </a:rPr>
              <a:t>WeBWorK</a:t>
            </a:r>
          </a:p>
        </p:txBody>
      </p:sp>
      <p:sp>
        <p:nvSpPr>
          <p:cNvPr id="8" name="Rounded Rectangle 7"/>
          <p:cNvSpPr/>
          <p:nvPr/>
        </p:nvSpPr>
        <p:spPr>
          <a:xfrm>
            <a:off x="8458200" y="1874519"/>
            <a:ext cx="1417320" cy="1234440"/>
          </a:xfrm>
          <a:prstGeom prst="roundRect">
            <a:avLst>
              <a:gd name="adj" fmla="val 8000"/>
            </a:avLst>
          </a:prstGeom>
          <a:solidFill>
            <a:srgbClr val="E39A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300" b="1" i="0">
                <a:solidFill>
                  <a:srgbClr val="17211B"/>
                </a:solidFill>
                <a:latin typeface="Arial"/>
              </a:rPr>
              <a:t>Brightspace</a:t>
            </a:r>
          </a:p>
        </p:txBody>
      </p:sp>
      <p:sp>
        <p:nvSpPr>
          <p:cNvPr id="9" name="Rounded Rectangle 8"/>
          <p:cNvSpPr/>
          <p:nvPr/>
        </p:nvSpPr>
        <p:spPr>
          <a:xfrm>
            <a:off x="9994392" y="1874519"/>
            <a:ext cx="1417320" cy="123444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300" b="1" i="0">
                <a:solidFill>
                  <a:srgbClr val="46524C"/>
                </a:solidFill>
                <a:latin typeface="Arial"/>
              </a:rPr>
              <a:t>Moodle</a:t>
            </a:r>
          </a:p>
        </p:txBody>
      </p:sp>
      <p:sp>
        <p:nvSpPr>
          <p:cNvPr id="10" name="Rounded Rectangle 9"/>
          <p:cNvSpPr/>
          <p:nvPr/>
        </p:nvSpPr>
        <p:spPr>
          <a:xfrm>
            <a:off x="777240" y="3291839"/>
            <a:ext cx="1417320" cy="123444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300" b="1" i="0">
                <a:solidFill>
                  <a:srgbClr val="46524C"/>
                </a:solidFill>
                <a:latin typeface="Arial"/>
              </a:rPr>
              <a:t>Blackboard</a:t>
            </a:r>
          </a:p>
        </p:txBody>
      </p:sp>
      <p:sp>
        <p:nvSpPr>
          <p:cNvPr id="11" name="Rounded Rectangle 10"/>
          <p:cNvSpPr/>
          <p:nvPr/>
        </p:nvSpPr>
        <p:spPr>
          <a:xfrm>
            <a:off x="2313432" y="3291839"/>
            <a:ext cx="1417320" cy="123444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300" b="1" i="0">
                <a:solidFill>
                  <a:srgbClr val="46524C"/>
                </a:solidFill>
                <a:latin typeface="Arial"/>
              </a:rPr>
              <a:t>Piazza</a:t>
            </a:r>
          </a:p>
        </p:txBody>
      </p:sp>
      <p:sp>
        <p:nvSpPr>
          <p:cNvPr id="12" name="Rounded Rectangle 11"/>
          <p:cNvSpPr/>
          <p:nvPr/>
        </p:nvSpPr>
        <p:spPr>
          <a:xfrm>
            <a:off x="3849624" y="3291839"/>
            <a:ext cx="1417320" cy="123444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300" b="1" i="0">
                <a:solidFill>
                  <a:srgbClr val="46524C"/>
                </a:solidFill>
                <a:latin typeface="Arial"/>
              </a:rPr>
              <a:t>Ed Discussion</a:t>
            </a:r>
          </a:p>
        </p:txBody>
      </p:sp>
      <p:sp>
        <p:nvSpPr>
          <p:cNvPr id="13" name="Rounded Rectangle 12"/>
          <p:cNvSpPr/>
          <p:nvPr/>
        </p:nvSpPr>
        <p:spPr>
          <a:xfrm>
            <a:off x="5385816" y="3291839"/>
            <a:ext cx="1417320" cy="123444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300" b="1" i="0">
                <a:solidFill>
                  <a:srgbClr val="46524C"/>
                </a:solidFill>
                <a:latin typeface="Arial"/>
              </a:rPr>
              <a:t>Google Classroom</a:t>
            </a:r>
          </a:p>
        </p:txBody>
      </p:sp>
      <p:sp>
        <p:nvSpPr>
          <p:cNvPr id="14" name="Rounded Rectangle 13"/>
          <p:cNvSpPr/>
          <p:nvPr/>
        </p:nvSpPr>
        <p:spPr>
          <a:xfrm>
            <a:off x="6922007" y="3291839"/>
            <a:ext cx="1417320" cy="123444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300" b="1" i="0">
                <a:solidFill>
                  <a:srgbClr val="46524C"/>
                </a:solidFill>
                <a:latin typeface="Arial"/>
              </a:rPr>
              <a:t>Crowdmark</a:t>
            </a:r>
          </a:p>
        </p:txBody>
      </p:sp>
      <p:sp>
        <p:nvSpPr>
          <p:cNvPr id="15" name="Rounded Rectangle 14"/>
          <p:cNvSpPr/>
          <p:nvPr/>
        </p:nvSpPr>
        <p:spPr>
          <a:xfrm>
            <a:off x="8458200" y="3291839"/>
            <a:ext cx="1417320" cy="123444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300" b="1" i="0">
                <a:solidFill>
                  <a:srgbClr val="46524C"/>
                </a:solidFill>
                <a:latin typeface="Arial"/>
              </a:rPr>
              <a:t>Macmillan Achieve</a:t>
            </a:r>
          </a:p>
        </p:txBody>
      </p:sp>
      <p:sp>
        <p:nvSpPr>
          <p:cNvPr id="16" name="Rounded Rectangle 15"/>
          <p:cNvSpPr/>
          <p:nvPr/>
        </p:nvSpPr>
        <p:spPr>
          <a:xfrm>
            <a:off x="9994392" y="3291839"/>
            <a:ext cx="1417320" cy="123444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300" b="1" i="0">
                <a:solidFill>
                  <a:srgbClr val="46524C"/>
                </a:solidFill>
                <a:latin typeface="Arial"/>
              </a:rPr>
              <a:t>Pearson MyLab</a:t>
            </a:r>
          </a:p>
        </p:txBody>
      </p:sp>
      <p:sp>
        <p:nvSpPr>
          <p:cNvPr id="17" name="Rounded Rectangle 16"/>
          <p:cNvSpPr/>
          <p:nvPr/>
        </p:nvSpPr>
        <p:spPr>
          <a:xfrm>
            <a:off x="777240" y="4846320"/>
            <a:ext cx="256032" cy="256032"/>
          </a:xfrm>
          <a:prstGeom prst="roundRect">
            <a:avLst/>
          </a:prstGeom>
          <a:solidFill>
            <a:srgbClr val="E39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43000" y="4818888"/>
            <a:ext cx="2194560" cy="320040"/>
          </a:xfrm>
          <a:prstGeom prst="rect">
            <a:avLst/>
          </a:prstGeom>
          <a:noFill/>
        </p:spPr>
        <p:txBody>
          <a:bodyPr wrap="square" anchor="t" lIns="0" rIns="0" tIns="0" bIns="0">
            <a:spAutoFit/>
          </a:bodyPr>
          <a:lstStyle/>
          <a:p>
            <a:pPr algn="l">
              <a:spcAft>
                <a:spcPts val="0"/>
              </a:spcAft>
            </a:pPr>
            <a:r>
              <a:rPr sz="1500" b="0" i="0">
                <a:solidFill>
                  <a:srgbClr val="46524C"/>
                </a:solidFill>
                <a:latin typeface="Arial"/>
              </a:rPr>
              <a:t>Live on main today</a:t>
            </a:r>
          </a:p>
        </p:txBody>
      </p:sp>
      <p:sp>
        <p:nvSpPr>
          <p:cNvPr id="19" name="Rounded Rectangle 18"/>
          <p:cNvSpPr/>
          <p:nvPr/>
        </p:nvSpPr>
        <p:spPr>
          <a:xfrm>
            <a:off x="3429000" y="4846320"/>
            <a:ext cx="256032" cy="256032"/>
          </a:xfrm>
          <a:prstGeom prst="roundRect">
            <a:avLst/>
          </a:prstGeom>
          <a:solidFill>
            <a:srgbClr val="FFFFFF"/>
          </a:solidFill>
          <a:ln>
            <a:solidFill>
              <a:srgbClr val="B9C2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94760" y="4818888"/>
            <a:ext cx="2194560" cy="320040"/>
          </a:xfrm>
          <a:prstGeom prst="rect">
            <a:avLst/>
          </a:prstGeom>
          <a:noFill/>
        </p:spPr>
        <p:txBody>
          <a:bodyPr wrap="square" anchor="t" lIns="0" rIns="0" tIns="0" bIns="0">
            <a:spAutoFit/>
          </a:bodyPr>
          <a:lstStyle/>
          <a:p>
            <a:pPr algn="l">
              <a:spcAft>
                <a:spcPts val="0"/>
              </a:spcAft>
            </a:pPr>
            <a:r>
              <a:rPr sz="1500" b="0" i="0">
                <a:solidFill>
                  <a:srgbClr val="46524C"/>
                </a:solidFill>
                <a:latin typeface="Arial"/>
              </a:rPr>
              <a:t>Built, in review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anchor="t" lIns="0" rIns="0" tIns="0" bIns="0">
            <a:spAutoFit/>
          </a:bodyPr>
          <a:lstStyle/>
          <a:p>
            <a:pPr algn="l">
              <a:spcAft>
                <a:spcPts val="0"/>
              </a:spcAft>
            </a:pPr>
            <a:r>
              <a:rPr sz="1300" b="1" i="0" spc="300">
                <a:solidFill>
                  <a:srgbClr val="B84028"/>
                </a:solidFill>
                <a:latin typeface="Arial"/>
              </a:rPr>
              <a:t>STATUS</a:t>
            </a:r>
          </a:p>
        </p:txBody>
      </p:sp>
      <p:sp>
        <p:nvSpPr>
          <p:cNvPr id="3" name="TextBox 2"/>
          <p:cNvSpPr txBox="1"/>
          <p:nvPr/>
        </p:nvSpPr>
        <p:spPr>
          <a:xfrm>
            <a:off x="731520" y="731520"/>
            <a:ext cx="10698480" cy="640080"/>
          </a:xfrm>
          <a:prstGeom prst="rect">
            <a:avLst/>
          </a:prstGeom>
          <a:noFill/>
        </p:spPr>
        <p:txBody>
          <a:bodyPr wrap="square" anchor="t" lIns="0" rIns="0" tIns="0" bIns="0">
            <a:spAutoFit/>
          </a:bodyPr>
          <a:lstStyle/>
          <a:p>
            <a:pPr algn="l">
              <a:spcAft>
                <a:spcPts val="0"/>
              </a:spcAft>
            </a:pPr>
            <a:r>
              <a:rPr sz="3200" b="1" i="0">
                <a:solidFill>
                  <a:srgbClr val="17211B"/>
                </a:solidFill>
                <a:latin typeface="Arial"/>
              </a:rPr>
              <a:t>What's real today</a:t>
            </a:r>
          </a:p>
        </p:txBody>
      </p:sp>
      <p:graphicFrame>
        <p:nvGraphicFramePr>
          <p:cNvPr id="4" name="Table 3"/>
          <p:cNvGraphicFramePr>
            <a:graphicFrameLocks noGrp="1"/>
          </p:cNvGraphicFramePr>
          <p:nvPr/>
        </p:nvGraphicFramePr>
        <p:xfrm>
          <a:off x="731520" y="1554480"/>
          <a:ext cx="10698480" cy="4572000"/>
        </p:xfrm>
        <a:graphic>
          <a:graphicData uri="http://schemas.openxmlformats.org/drawingml/2006/table">
            <a:tbl>
              <a:tblPr firstRow="1" bandRow="1">
                <a:tableStyleId>{5C22544A-7EE6-4342-B048-85BDC9FD1C3A}</a:tableStyleId>
              </a:tblPr>
              <a:tblGrid>
                <a:gridCol w="2743200"/>
                <a:gridCol w="3108960"/>
                <a:gridCol w="4846320"/>
              </a:tblGrid>
              <a:tr h="508000">
                <a:tc>
                  <a:txBody>
                    <a:bodyPr/>
                    <a:lstStyle/>
                    <a:p>
                      <a:pPr algn="l">
                        <a:spcAft>
                          <a:spcPts val="0"/>
                        </a:spcAft>
                      </a:pPr>
                      <a:r>
                        <a:rPr sz="1400" b="1" i="0">
                          <a:solidFill>
                            <a:srgbClr val="FFF8F4"/>
                          </a:solidFill>
                          <a:latin typeface="Arial"/>
                        </a:rPr>
                        <a:t>Sensor</a:t>
                      </a:r>
                    </a:p>
                  </a:txBody>
                  <a:tcPr marL="137160" marR="137160">
                    <a:solidFill>
                      <a:srgbClr val="B84028"/>
                    </a:solidFill>
                  </a:tcPr>
                </a:tc>
                <a:tc>
                  <a:txBody>
                    <a:bodyPr/>
                    <a:lstStyle/>
                    <a:p>
                      <a:pPr algn="l">
                        <a:spcAft>
                          <a:spcPts val="0"/>
                        </a:spcAft>
                      </a:pPr>
                      <a:r>
                        <a:rPr sz="1400" b="1" i="0">
                          <a:solidFill>
                            <a:srgbClr val="FFF8F4"/>
                          </a:solidFill>
                          <a:latin typeface="Arial"/>
                        </a:rPr>
                        <a:t>In the live demo</a:t>
                      </a:r>
                    </a:p>
                  </a:txBody>
                  <a:tcPr marL="137160" marR="137160">
                    <a:solidFill>
                      <a:srgbClr val="B84028"/>
                    </a:solidFill>
                  </a:tcPr>
                </a:tc>
                <a:tc>
                  <a:txBody>
                    <a:bodyPr/>
                    <a:lstStyle/>
                    <a:p>
                      <a:pPr algn="l">
                        <a:spcAft>
                          <a:spcPts val="0"/>
                        </a:spcAft>
                      </a:pPr>
                      <a:r>
                        <a:rPr sz="1400" b="1" i="0">
                          <a:solidFill>
                            <a:srgbClr val="FFF8F4"/>
                          </a:solidFill>
                          <a:latin typeface="Arial"/>
                        </a:rPr>
                        <a:t>With your own account today</a:t>
                      </a:r>
                    </a:p>
                  </a:txBody>
                  <a:tcPr marL="137160" marR="137160">
                    <a:solidFill>
                      <a:srgbClr val="B84028"/>
                    </a:solidFill>
                  </a:tcPr>
                </a:tc>
              </a:tr>
              <a:tr h="508000">
                <a:tc>
                  <a:txBody>
                    <a:bodyPr/>
                    <a:lstStyle/>
                    <a:p>
                      <a:pPr algn="l">
                        <a:spcAft>
                          <a:spcPts val="0"/>
                        </a:spcAft>
                      </a:pPr>
                      <a:r>
                        <a:rPr sz="1400" b="1" i="0">
                          <a:solidFill>
                            <a:srgbClr val="17211B"/>
                          </a:solidFill>
                          <a:latin typeface="Arial"/>
                        </a:rPr>
                        <a:t>Canvas</a:t>
                      </a:r>
                    </a:p>
                  </a:txBody>
                  <a:tcPr marL="137160" marR="137160">
                    <a:solidFill>
                      <a:srgbClr val="FFFFFF"/>
                    </a:solidFill>
                  </a:tcPr>
                </a:tc>
                <a:tc>
                  <a:txBody>
                    <a:bodyPr/>
                    <a:lstStyle/>
                    <a:p>
                      <a:pPr algn="l">
                        <a:spcAft>
                          <a:spcPts val="0"/>
                        </a:spcAft>
                      </a:pPr>
                      <a:r>
                        <a:rPr sz="1400" b="0" i="0">
                          <a:solidFill>
                            <a:srgbClr val="46524C"/>
                          </a:solidFill>
                          <a:latin typeface="Arial"/>
                        </a:rPr>
                        <a:t>Yes</a:t>
                      </a:r>
                    </a:p>
                  </a:txBody>
                  <a:tcPr marL="137160" marR="137160">
                    <a:solidFill>
                      <a:srgbClr val="FFFFFF"/>
                    </a:solidFill>
                  </a:tcPr>
                </a:tc>
                <a:tc>
                  <a:txBody>
                    <a:bodyPr/>
                    <a:lstStyle/>
                    <a:p>
                      <a:pPr algn="l">
                        <a:spcAft>
                          <a:spcPts val="0"/>
                        </a:spcAft>
                      </a:pPr>
                      <a:r>
                        <a:rPr sz="1400" b="0" i="0">
                          <a:solidFill>
                            <a:srgbClr val="46524C"/>
                          </a:solidFill>
                          <a:latin typeface="Arial"/>
                        </a:rPr>
                        <a:t>Yes: log in on your laptop, or paste your calendar-feed link</a:t>
                      </a:r>
                    </a:p>
                  </a:txBody>
                  <a:tcPr marL="137160" marR="137160">
                    <a:solidFill>
                      <a:srgbClr val="FFFFFF"/>
                    </a:solidFill>
                  </a:tcPr>
                </a:tc>
              </a:tr>
              <a:tr h="508000">
                <a:tc>
                  <a:txBody>
                    <a:bodyPr/>
                    <a:lstStyle/>
                    <a:p>
                      <a:pPr algn="l">
                        <a:spcAft>
                          <a:spcPts val="0"/>
                        </a:spcAft>
                      </a:pPr>
                      <a:r>
                        <a:rPr sz="1400" b="1" i="0">
                          <a:solidFill>
                            <a:srgbClr val="17211B"/>
                          </a:solidFill>
                          <a:latin typeface="Arial"/>
                        </a:rPr>
                        <a:t>PrairieLearn</a:t>
                      </a:r>
                    </a:p>
                  </a:txBody>
                  <a:tcPr marL="137160" marR="137160">
                    <a:solidFill>
                      <a:srgbClr val="F1F3F1"/>
                    </a:solidFill>
                  </a:tcPr>
                </a:tc>
                <a:tc>
                  <a:txBody>
                    <a:bodyPr/>
                    <a:lstStyle/>
                    <a:p>
                      <a:pPr algn="l">
                        <a:spcAft>
                          <a:spcPts val="0"/>
                        </a:spcAft>
                      </a:pPr>
                      <a:r>
                        <a:rPr sz="1400" b="0" i="0">
                          <a:solidFill>
                            <a:srgbClr val="46524C"/>
                          </a:solidFill>
                          <a:latin typeface="Arial"/>
                        </a:rPr>
                        <a:t>Yes</a:t>
                      </a:r>
                    </a:p>
                  </a:txBody>
                  <a:tcPr marL="137160" marR="137160">
                    <a:solidFill>
                      <a:srgbClr val="F1F3F1"/>
                    </a:solidFill>
                  </a:tcPr>
                </a:tc>
                <a:tc>
                  <a:txBody>
                    <a:bodyPr/>
                    <a:lstStyle/>
                    <a:p>
                      <a:pPr algn="l">
                        <a:spcAft>
                          <a:spcPts val="0"/>
                        </a:spcAft>
                      </a:pPr>
                      <a:r>
                        <a:rPr sz="1400" b="0" i="0">
                          <a:solidFill>
                            <a:srgbClr val="46524C"/>
                          </a:solidFill>
                          <a:latin typeface="Arial"/>
                        </a:rPr>
                        <a:t>Yes: log in on your laptop</a:t>
                      </a:r>
                    </a:p>
                  </a:txBody>
                  <a:tcPr marL="137160" marR="137160">
                    <a:solidFill>
                      <a:srgbClr val="F1F3F1"/>
                    </a:solidFill>
                  </a:tcPr>
                </a:tc>
              </a:tr>
              <a:tr h="508000">
                <a:tc>
                  <a:txBody>
                    <a:bodyPr/>
                    <a:lstStyle/>
                    <a:p>
                      <a:pPr algn="l">
                        <a:spcAft>
                          <a:spcPts val="0"/>
                        </a:spcAft>
                      </a:pPr>
                      <a:r>
                        <a:rPr sz="1400" b="1" i="0">
                          <a:solidFill>
                            <a:srgbClr val="17211B"/>
                          </a:solidFill>
                          <a:latin typeface="Arial"/>
                        </a:rPr>
                        <a:t>Workday</a:t>
                      </a:r>
                    </a:p>
                  </a:txBody>
                  <a:tcPr marL="137160" marR="137160">
                    <a:solidFill>
                      <a:srgbClr val="FFFFFF"/>
                    </a:solidFill>
                  </a:tcPr>
                </a:tc>
                <a:tc>
                  <a:txBody>
                    <a:bodyPr/>
                    <a:lstStyle/>
                    <a:p>
                      <a:pPr algn="l">
                        <a:spcAft>
                          <a:spcPts val="0"/>
                        </a:spcAft>
                      </a:pPr>
                      <a:r>
                        <a:rPr sz="1400" b="0" i="0">
                          <a:solidFill>
                            <a:srgbClr val="46524C"/>
                          </a:solidFill>
                          <a:latin typeface="Arial"/>
                        </a:rPr>
                        <a:t>Yes, 9 class meetings</a:t>
                      </a:r>
                    </a:p>
                  </a:txBody>
                  <a:tcPr marL="137160" marR="137160">
                    <a:solidFill>
                      <a:srgbClr val="FFFFFF"/>
                    </a:solidFill>
                  </a:tcPr>
                </a:tc>
                <a:tc>
                  <a:txBody>
                    <a:bodyPr/>
                    <a:lstStyle/>
                    <a:p>
                      <a:pPr algn="l">
                        <a:spcAft>
                          <a:spcPts val="0"/>
                        </a:spcAft>
                      </a:pPr>
                      <a:r>
                        <a:rPr sz="1400" b="0" i="0">
                          <a:solidFill>
                            <a:srgbClr val="46524C"/>
                          </a:solidFill>
                          <a:latin typeface="Arial"/>
                        </a:rPr>
                        <a:t>Yes: import the Workday .xlsx export</a:t>
                      </a:r>
                    </a:p>
                  </a:txBody>
                  <a:tcPr marL="137160" marR="137160">
                    <a:solidFill>
                      <a:srgbClr val="FFFFFF"/>
                    </a:solidFill>
                  </a:tcPr>
                </a:tc>
              </a:tr>
              <a:tr h="508000">
                <a:tc>
                  <a:txBody>
                    <a:bodyPr/>
                    <a:lstStyle/>
                    <a:p>
                      <a:pPr algn="l">
                        <a:spcAft>
                          <a:spcPts val="0"/>
                        </a:spcAft>
                      </a:pPr>
                      <a:r>
                        <a:rPr sz="1400" b="1" i="0">
                          <a:solidFill>
                            <a:srgbClr val="17211B"/>
                          </a:solidFill>
                          <a:latin typeface="Arial"/>
                        </a:rPr>
                        <a:t>UBC key dates</a:t>
                      </a:r>
                    </a:p>
                  </a:txBody>
                  <a:tcPr marL="137160" marR="137160">
                    <a:solidFill>
                      <a:srgbClr val="F1F3F1"/>
                    </a:solidFill>
                  </a:tcPr>
                </a:tc>
                <a:tc>
                  <a:txBody>
                    <a:bodyPr/>
                    <a:lstStyle/>
                    <a:p>
                      <a:pPr algn="l">
                        <a:spcAft>
                          <a:spcPts val="0"/>
                        </a:spcAft>
                      </a:pPr>
                      <a:r>
                        <a:rPr sz="1400" b="0" i="0">
                          <a:solidFill>
                            <a:srgbClr val="46524C"/>
                          </a:solidFill>
                          <a:latin typeface="Arial"/>
                        </a:rPr>
                        <a:t>Yes</a:t>
                      </a:r>
                    </a:p>
                  </a:txBody>
                  <a:tcPr marL="137160" marR="137160">
                    <a:solidFill>
                      <a:srgbClr val="F1F3F1"/>
                    </a:solidFill>
                  </a:tcPr>
                </a:tc>
                <a:tc>
                  <a:txBody>
                    <a:bodyPr/>
                    <a:lstStyle/>
                    <a:p>
                      <a:pPr algn="l">
                        <a:spcAft>
                          <a:spcPts val="0"/>
                        </a:spcAft>
                      </a:pPr>
                      <a:r>
                        <a:rPr sz="1400" b="0" i="0">
                          <a:solidFill>
                            <a:srgbClr val="46524C"/>
                          </a:solidFill>
                          <a:latin typeface="Arial"/>
                        </a:rPr>
                        <a:t>Yes, public data</a:t>
                      </a:r>
                    </a:p>
                  </a:txBody>
                  <a:tcPr marL="137160" marR="137160">
                    <a:solidFill>
                      <a:srgbClr val="F1F3F1"/>
                    </a:solidFill>
                  </a:tcPr>
                </a:tc>
              </a:tr>
              <a:tr h="508000">
                <a:tc>
                  <a:txBody>
                    <a:bodyPr/>
                    <a:lstStyle/>
                    <a:p>
                      <a:pPr algn="l">
                        <a:spcAft>
                          <a:spcPts val="0"/>
                        </a:spcAft>
                      </a:pPr>
                      <a:r>
                        <a:rPr sz="1400" b="1" i="0">
                          <a:solidFill>
                            <a:srgbClr val="17211B"/>
                          </a:solidFill>
                          <a:latin typeface="Arial"/>
                        </a:rPr>
                        <a:t>WeBWorK, Brightspace</a:t>
                      </a:r>
                    </a:p>
                  </a:txBody>
                  <a:tcPr marL="137160" marR="137160">
                    <a:solidFill>
                      <a:srgbClr val="FFFFFF"/>
                    </a:solidFill>
                  </a:tcPr>
                </a:tc>
                <a:tc>
                  <a:txBody>
                    <a:bodyPr/>
                    <a:lstStyle/>
                    <a:p>
                      <a:pPr algn="l">
                        <a:spcAft>
                          <a:spcPts val="0"/>
                        </a:spcAft>
                      </a:pPr>
                      <a:r>
                        <a:rPr sz="1400" b="0" i="0">
                          <a:solidFill>
                            <a:srgbClr val="46524C"/>
                          </a:solidFill>
                          <a:latin typeface="Arial"/>
                        </a:rPr>
                        <a:t>Yes (Brightspace: courses only)</a:t>
                      </a:r>
                    </a:p>
                  </a:txBody>
                  <a:tcPr marL="137160" marR="137160">
                    <a:solidFill>
                      <a:srgbClr val="FFFFFF"/>
                    </a:solidFill>
                  </a:tcPr>
                </a:tc>
                <a:tc>
                  <a:txBody>
                    <a:bodyPr/>
                    <a:lstStyle/>
                    <a:p>
                      <a:pPr algn="l">
                        <a:spcAft>
                          <a:spcPts val="0"/>
                        </a:spcAft>
                      </a:pPr>
                      <a:r>
                        <a:rPr sz="1400" b="0" i="0">
                          <a:solidFill>
                            <a:srgbClr val="46524C"/>
                          </a:solidFill>
                          <a:latin typeface="Arial"/>
                        </a:rPr>
                        <a:t>In review</a:t>
                      </a:r>
                    </a:p>
                  </a:txBody>
                  <a:tcPr marL="137160" marR="137160">
                    <a:solidFill>
                      <a:srgbClr val="FFFFFF"/>
                    </a:solidFill>
                  </a:tcPr>
                </a:tc>
              </a:tr>
              <a:tr h="508000">
                <a:tc>
                  <a:txBody>
                    <a:bodyPr/>
                    <a:lstStyle/>
                    <a:p>
                      <a:pPr algn="l">
                        <a:spcAft>
                          <a:spcPts val="0"/>
                        </a:spcAft>
                      </a:pPr>
                      <a:r>
                        <a:rPr sz="1400" b="1" i="0">
                          <a:solidFill>
                            <a:srgbClr val="17211B"/>
                          </a:solidFill>
                          <a:latin typeface="Arial"/>
                        </a:rPr>
                        <a:t>Piazza</a:t>
                      </a:r>
                    </a:p>
                  </a:txBody>
                  <a:tcPr marL="137160" marR="137160">
                    <a:solidFill>
                      <a:srgbClr val="F1F3F1"/>
                    </a:solidFill>
                  </a:tcPr>
                </a:tc>
                <a:tc>
                  <a:txBody>
                    <a:bodyPr/>
                    <a:lstStyle/>
                    <a:p>
                      <a:pPr algn="l">
                        <a:spcAft>
                          <a:spcPts val="0"/>
                        </a:spcAft>
                      </a:pPr>
                      <a:r>
                        <a:rPr sz="1400" b="0" i="0">
                          <a:solidFill>
                            <a:srgbClr val="46524C"/>
                          </a:solidFill>
                          <a:latin typeface="Arial"/>
                        </a:rPr>
                        <a:t>Yes, as announcements</a:t>
                      </a:r>
                    </a:p>
                  </a:txBody>
                  <a:tcPr marL="137160" marR="137160">
                    <a:solidFill>
                      <a:srgbClr val="F1F3F1"/>
                    </a:solidFill>
                  </a:tcPr>
                </a:tc>
                <a:tc>
                  <a:txBody>
                    <a:bodyPr/>
                    <a:lstStyle/>
                    <a:p>
                      <a:pPr algn="l">
                        <a:spcAft>
                          <a:spcPts val="0"/>
                        </a:spcAft>
                      </a:pPr>
                      <a:r>
                        <a:rPr sz="1400" b="0" i="0">
                          <a:solidFill>
                            <a:srgbClr val="46524C"/>
                          </a:solidFill>
                          <a:latin typeface="Arial"/>
                        </a:rPr>
                        <a:t>Code exists, not yet proven on a live class</a:t>
                      </a:r>
                    </a:p>
                  </a:txBody>
                  <a:tcPr marL="137160" marR="137160">
                    <a:solidFill>
                      <a:srgbClr val="F1F3F1"/>
                    </a:solidFill>
                  </a:tcPr>
                </a:tc>
              </a:tr>
              <a:tr h="508000">
                <a:tc>
                  <a:txBody>
                    <a:bodyPr/>
                    <a:lstStyle/>
                    <a:p>
                      <a:pPr algn="l">
                        <a:spcAft>
                          <a:spcPts val="0"/>
                        </a:spcAft>
                      </a:pPr>
                      <a:r>
                        <a:rPr sz="1400" b="1" i="0">
                          <a:solidFill>
                            <a:srgbClr val="17211B"/>
                          </a:solidFill>
                          <a:latin typeface="Arial"/>
                        </a:rPr>
                        <a:t>UBC Bookstore</a:t>
                      </a:r>
                    </a:p>
                  </a:txBody>
                  <a:tcPr marL="137160" marR="137160">
                    <a:solidFill>
                      <a:srgbClr val="FFFFFF"/>
                    </a:solidFill>
                  </a:tcPr>
                </a:tc>
                <a:tc>
                  <a:txBody>
                    <a:bodyPr/>
                    <a:lstStyle/>
                    <a:p>
                      <a:pPr algn="l">
                        <a:spcAft>
                          <a:spcPts val="0"/>
                        </a:spcAft>
                      </a:pPr>
                      <a:r>
                        <a:rPr sz="1400" b="0" i="0">
                          <a:solidFill>
                            <a:srgbClr val="46524C"/>
                          </a:solidFill>
                          <a:latin typeface="Arial"/>
                        </a:rPr>
                        <a:t>Yes, 3 textbooks</a:t>
                      </a:r>
                    </a:p>
                  </a:txBody>
                  <a:tcPr marL="137160" marR="137160">
                    <a:solidFill>
                      <a:srgbClr val="FFFFFF"/>
                    </a:solidFill>
                  </a:tcPr>
                </a:tc>
                <a:tc>
                  <a:txBody>
                    <a:bodyPr/>
                    <a:lstStyle/>
                    <a:p>
                      <a:pPr algn="l">
                        <a:spcAft>
                          <a:spcPts val="0"/>
                        </a:spcAft>
                      </a:pPr>
                      <a:r>
                        <a:rPr sz="1400" b="0" i="0">
                          <a:solidFill>
                            <a:srgbClr val="46524C"/>
                          </a:solidFill>
                          <a:latin typeface="Arial"/>
                        </a:rPr>
                        <a:t>Links to the Bookstore's own CWL book list</a:t>
                      </a:r>
                    </a:p>
                  </a:txBody>
                  <a:tcPr marL="137160" marR="137160">
                    <a:solidFill>
                      <a:srgbClr val="FFFFFF"/>
                    </a:solidFill>
                  </a:tcPr>
                </a:tc>
              </a:tr>
              <a:tr h="508000">
                <a:tc>
                  <a:txBody>
                    <a:bodyPr/>
                    <a:lstStyle/>
                    <a:p>
                      <a:pPr algn="l">
                        <a:spcAft>
                          <a:spcPts val="0"/>
                        </a:spcAft>
                      </a:pPr>
                      <a:r>
                        <a:rPr sz="1400" b="1" i="0">
                          <a:solidFill>
                            <a:srgbClr val="17211B"/>
                          </a:solidFill>
                          <a:latin typeface="Arial"/>
                        </a:rPr>
                        <a:t>Moodle, Blackboard, and 5 more</a:t>
                      </a:r>
                    </a:p>
                  </a:txBody>
                  <a:tcPr marL="137160" marR="137160">
                    <a:solidFill>
                      <a:srgbClr val="F1F3F1"/>
                    </a:solidFill>
                  </a:tcPr>
                </a:tc>
                <a:tc>
                  <a:txBody>
                    <a:bodyPr/>
                    <a:lstStyle/>
                    <a:p>
                      <a:pPr algn="l">
                        <a:spcAft>
                          <a:spcPts val="0"/>
                        </a:spcAft>
                      </a:pPr>
                      <a:r>
                        <a:rPr sz="1400" b="0" i="0">
                          <a:solidFill>
                            <a:srgbClr val="46524C"/>
                          </a:solidFill>
                          <a:latin typeface="Arial"/>
                        </a:rPr>
                        <a:t>No</a:t>
                      </a:r>
                    </a:p>
                  </a:txBody>
                  <a:tcPr marL="137160" marR="137160">
                    <a:solidFill>
                      <a:srgbClr val="F1F3F1"/>
                    </a:solidFill>
                  </a:tcPr>
                </a:tc>
                <a:tc>
                  <a:txBody>
                    <a:bodyPr/>
                    <a:lstStyle/>
                    <a:p>
                      <a:pPr algn="l">
                        <a:spcAft>
                          <a:spcPts val="0"/>
                        </a:spcAft>
                      </a:pPr>
                      <a:r>
                        <a:rPr sz="1400" b="0" i="0">
                          <a:solidFill>
                            <a:srgbClr val="46524C"/>
                          </a:solidFill>
                          <a:latin typeface="Arial"/>
                        </a:rPr>
                        <a:t>Built or started, in review</a:t>
                      </a:r>
                    </a:p>
                  </a:txBody>
                  <a:tcPr marL="137160" marR="137160">
                    <a:solidFill>
                      <a:srgbClr val="F1F3F1"/>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TextBox 1"/>
          <p:cNvSpPr txBox="1"/>
          <p:nvPr/>
        </p:nvSpPr>
        <p:spPr>
          <a:xfrm>
            <a:off x="731520" y="548640"/>
            <a:ext cx="10698480" cy="731520"/>
          </a:xfrm>
          <a:prstGeom prst="rect">
            <a:avLst/>
          </a:prstGeom>
          <a:noFill/>
        </p:spPr>
        <p:txBody>
          <a:bodyPr wrap="square" anchor="t" lIns="0" rIns="0" tIns="0" bIns="0">
            <a:spAutoFit/>
          </a:bodyPr>
          <a:lstStyle/>
          <a:p>
            <a:pPr algn="l">
              <a:spcAft>
                <a:spcPts val="0"/>
              </a:spcAft>
            </a:pPr>
            <a:r>
              <a:rPr sz="3400" b="1" i="0">
                <a:solidFill>
                  <a:srgbClr val="17211B"/>
                </a:solidFill>
                <a:latin typeface="Arial"/>
              </a:rPr>
              <a:t>Engineering discipline you can actually check.</a:t>
            </a:r>
          </a:p>
        </p:txBody>
      </p:sp>
      <p:sp>
        <p:nvSpPr>
          <p:cNvPr id="3" name="Rounded Rectangle 2"/>
          <p:cNvSpPr/>
          <p:nvPr/>
        </p:nvSpPr>
        <p:spPr>
          <a:xfrm>
            <a:off x="731520" y="1600200"/>
            <a:ext cx="3429000" cy="210312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800"/>
              </a:spcAft>
            </a:pPr>
            <a:r>
              <a:rPr sz="1700" b="1" i="0">
                <a:solidFill>
                  <a:srgbClr val="17211B"/>
                </a:solidFill>
                <a:latin typeface="Arial"/>
              </a:rPr>
              <a:t>Zero credential handling</a:t>
            </a:r>
          </a:p>
          <a:p>
            <a:pPr algn="l">
              <a:spcAft>
                <a:spcPts val="0"/>
              </a:spcAft>
            </a:pPr>
            <a:r>
              <a:rPr sz="1300" b="0" i="0">
                <a:solidFill>
                  <a:srgbClr val="46524C"/>
                </a:solidFill>
                <a:latin typeface="Arial"/>
              </a:rPr>
              <a:t>Every login opens a real, visible browser window the student signs into themselves. Our code never sees a password.</a:t>
            </a:r>
          </a:p>
        </p:txBody>
      </p:sp>
      <p:sp>
        <p:nvSpPr>
          <p:cNvPr id="4" name="Rounded Rectangle 3"/>
          <p:cNvSpPr/>
          <p:nvPr/>
        </p:nvSpPr>
        <p:spPr>
          <a:xfrm>
            <a:off x="4389120" y="1600200"/>
            <a:ext cx="3429000" cy="210312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800"/>
              </a:spcAft>
            </a:pPr>
            <a:r>
              <a:rPr sz="1700" b="1" i="0">
                <a:solidFill>
                  <a:srgbClr val="17211B"/>
                </a:solidFill>
                <a:latin typeface="Arial"/>
              </a:rPr>
              <a:t>Structured data first</a:t>
            </a:r>
          </a:p>
          <a:p>
            <a:pPr algn="l">
              <a:spcAft>
                <a:spcPts val="0"/>
              </a:spcAft>
            </a:pPr>
            <a:r>
              <a:rPr sz="1300" b="0" i="0">
                <a:solidFill>
                  <a:srgbClr val="46524C"/>
                </a:solidFill>
                <a:latin typeface="Arial"/>
              </a:rPr>
              <a:t>Each platform's own JSON or API where one exists; a narrow page read only where none does. Never a password.</a:t>
            </a:r>
          </a:p>
        </p:txBody>
      </p:sp>
      <p:sp>
        <p:nvSpPr>
          <p:cNvPr id="5" name="Rounded Rectangle 4"/>
          <p:cNvSpPr/>
          <p:nvPr/>
        </p:nvSpPr>
        <p:spPr>
          <a:xfrm>
            <a:off x="8046720" y="1600200"/>
            <a:ext cx="3429000" cy="210312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800"/>
              </a:spcAft>
            </a:pPr>
            <a:r>
              <a:rPr sz="1700" b="1" i="0">
                <a:solidFill>
                  <a:srgbClr val="17211B"/>
                </a:solidFill>
                <a:latin typeface="Arial"/>
              </a:rPr>
              <a:t>Honest about what's unverified</a:t>
            </a:r>
          </a:p>
          <a:p>
            <a:pPr algn="l">
              <a:spcAft>
                <a:spcPts val="0"/>
              </a:spcAft>
            </a:pPr>
            <a:r>
              <a:rPr sz="1300" b="0" i="0">
                <a:solidFill>
                  <a:srgbClr val="46524C"/>
                </a:solidFill>
                <a:latin typeface="Arial"/>
              </a:rPr>
              <a:t>Every adapter's own notes state what's a cited fact versus a reasoned guess, in plain words.</a:t>
            </a:r>
          </a:p>
        </p:txBody>
      </p:sp>
      <p:sp>
        <p:nvSpPr>
          <p:cNvPr id="6" name="Rounded Rectangle 5"/>
          <p:cNvSpPr/>
          <p:nvPr/>
        </p:nvSpPr>
        <p:spPr>
          <a:xfrm>
            <a:off x="731520" y="3931920"/>
            <a:ext cx="3429000" cy="210312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800"/>
              </a:spcAft>
            </a:pPr>
            <a:r>
              <a:rPr sz="1700" b="1" i="0">
                <a:solidFill>
                  <a:srgbClr val="17211B"/>
                </a:solidFill>
                <a:latin typeface="Arial"/>
              </a:rPr>
              <a:t>Failure never cascades</a:t>
            </a:r>
          </a:p>
          <a:p>
            <a:pPr algn="l">
              <a:spcAft>
                <a:spcPts val="0"/>
              </a:spcAft>
            </a:pPr>
            <a:r>
              <a:rPr sz="1300" b="0" i="0">
                <a:solidFill>
                  <a:srgbClr val="46524C"/>
                </a:solidFill>
                <a:latin typeface="Arial"/>
              </a:rPr>
              <a:t>One malformed course or a down server can't wipe out every other course's already-fetched data.</a:t>
            </a:r>
          </a:p>
        </p:txBody>
      </p:sp>
      <p:sp>
        <p:nvSpPr>
          <p:cNvPr id="7" name="Rounded Rectangle 6"/>
          <p:cNvSpPr/>
          <p:nvPr/>
        </p:nvSpPr>
        <p:spPr>
          <a:xfrm>
            <a:off x="4389120" y="3931920"/>
            <a:ext cx="3429000" cy="210312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800"/>
              </a:spcAft>
            </a:pPr>
            <a:r>
              <a:rPr sz="1700" b="1" i="0">
                <a:solidFill>
                  <a:srgbClr val="17211B"/>
                </a:solidFill>
                <a:latin typeface="Arial"/>
              </a:rPr>
              <a:t>Verified against the real thing</a:t>
            </a:r>
          </a:p>
          <a:p>
            <a:pPr algn="l">
              <a:spcAft>
                <a:spcPts val="0"/>
              </a:spcAft>
            </a:pPr>
            <a:r>
              <a:rPr sz="1300" b="0" i="0">
                <a:solidFill>
                  <a:srgbClr val="46524C"/>
                </a:solidFill>
                <a:latin typeface="Arial"/>
              </a:rPr>
              <a:t>Built and tested against real UBC endpoints during the hackathon, not just against documentation.</a:t>
            </a:r>
          </a:p>
        </p:txBody>
      </p:sp>
      <p:sp>
        <p:nvSpPr>
          <p:cNvPr id="8" name="Rounded Rectangle 7"/>
          <p:cNvSpPr/>
          <p:nvPr/>
        </p:nvSpPr>
        <p:spPr>
          <a:xfrm>
            <a:off x="8046720" y="3931920"/>
            <a:ext cx="3429000" cy="2103120"/>
          </a:xfrm>
          <a:prstGeom prst="roundRect">
            <a:avLst>
              <a:gd name="adj" fmla="val 8000"/>
            </a:avLst>
          </a:prstGeom>
          <a:solidFill>
            <a:srgbClr val="B8402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800"/>
              </a:spcAft>
            </a:pPr>
            <a:r>
              <a:rPr sz="1700" b="1" i="0">
                <a:solidFill>
                  <a:srgbClr val="FFF8F4"/>
                </a:solidFill>
                <a:latin typeface="Arial"/>
              </a:rPr>
              <a:t>Caught before it shipped</a:t>
            </a:r>
          </a:p>
          <a:p>
            <a:pPr algn="l">
              <a:spcAft>
                <a:spcPts val="0"/>
              </a:spcAft>
            </a:pPr>
            <a:r>
              <a:rPr sz="1300" b="0" i="0">
                <a:solidFill>
                  <a:srgbClr val="FBE4DA"/>
                </a:solidFill>
                <a:latin typeface="Arial"/>
              </a:rPr>
              <a:t>A live test against the real Bookstore caught a bug that would have hammered an entire department with requests. Fixed before merge.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B84028"/>
        </a:solidFill>
        <a:effectLst/>
      </p:bgPr>
    </p:bg>
    <p:spTree>
      <p:nvGrpSpPr>
        <p:cNvPr id="1" name=""/>
        <p:cNvGrpSpPr/>
        <p:nvPr/>
      </p:nvGrpSpPr>
      <p:grpSpPr/>
      <p:sp>
        <p:nvSpPr>
          <p:cNvPr id="2" name="TextBox 1"/>
          <p:cNvSpPr txBox="1"/>
          <p:nvPr/>
        </p:nvSpPr>
        <p:spPr>
          <a:xfrm>
            <a:off x="731520" y="502920"/>
            <a:ext cx="10698480" cy="320040"/>
          </a:xfrm>
          <a:prstGeom prst="rect">
            <a:avLst/>
          </a:prstGeom>
          <a:noFill/>
        </p:spPr>
        <p:txBody>
          <a:bodyPr wrap="square" anchor="t" lIns="0" rIns="0" tIns="0" bIns="0">
            <a:spAutoFit/>
          </a:bodyPr>
          <a:lstStyle/>
          <a:p>
            <a:pPr algn="l">
              <a:spcAft>
                <a:spcPts val="0"/>
              </a:spcAft>
            </a:pPr>
            <a:r>
              <a:rPr sz="1300" b="1" i="0" spc="300">
                <a:solidFill>
                  <a:srgbClr val="F3D9CE"/>
                </a:solidFill>
                <a:latin typeface="Arial"/>
              </a:rPr>
              <a:t>TESTING PROCESS</a:t>
            </a:r>
          </a:p>
        </p:txBody>
      </p:sp>
      <p:sp>
        <p:nvSpPr>
          <p:cNvPr id="3" name="TextBox 2"/>
          <p:cNvSpPr txBox="1"/>
          <p:nvPr/>
        </p:nvSpPr>
        <p:spPr>
          <a:xfrm>
            <a:off x="731520" y="868680"/>
            <a:ext cx="10698480" cy="914400"/>
          </a:xfrm>
          <a:prstGeom prst="rect">
            <a:avLst/>
          </a:prstGeom>
          <a:noFill/>
        </p:spPr>
        <p:txBody>
          <a:bodyPr wrap="square" anchor="t" lIns="0" rIns="0" tIns="0" bIns="0">
            <a:spAutoFit/>
          </a:bodyPr>
          <a:lstStyle/>
          <a:p>
            <a:pPr algn="l">
              <a:spcAft>
                <a:spcPts val="0"/>
              </a:spcAft>
            </a:pPr>
            <a:r>
              <a:rPr sz="4000" b="1" i="0">
                <a:solidFill>
                  <a:srgbClr val="FFF8F4"/>
                </a:solidFill>
                <a:latin typeface="Arial"/>
              </a:rPr>
              <a:t>Built fast. Verified for real.</a:t>
            </a:r>
          </a:p>
        </p:txBody>
      </p:sp>
      <p:sp>
        <p:nvSpPr>
          <p:cNvPr id="4" name="Rounded Rectangle 3"/>
          <p:cNvSpPr/>
          <p:nvPr/>
        </p:nvSpPr>
        <p:spPr>
          <a:xfrm>
            <a:off x="731520" y="2194560"/>
            <a:ext cx="2514600" cy="3291840"/>
          </a:xfrm>
          <a:prstGeom prst="roundRect">
            <a:avLst>
              <a:gd name="adj" fmla="val 8000"/>
            </a:avLst>
          </a:prstGeom>
          <a:solidFill>
            <a:srgbClr val="FD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000"/>
              </a:spcAft>
            </a:pPr>
            <a:r>
              <a:rPr sz="6600" b="1" i="0">
                <a:solidFill>
                  <a:srgbClr val="B84028"/>
                </a:solidFill>
                <a:latin typeface="Arial"/>
              </a:rPr>
              <a:t>6</a:t>
            </a:r>
          </a:p>
          <a:p>
            <a:pPr algn="ctr">
              <a:spcAft>
                <a:spcPts val="0"/>
              </a:spcAft>
            </a:pPr>
            <a:r>
              <a:rPr sz="1400" b="0" i="0">
                <a:solidFill>
                  <a:srgbClr val="46524C"/>
                </a:solidFill>
                <a:latin typeface="Arial"/>
              </a:rPr>
              <a:t>platforms fully live on main today</a:t>
            </a:r>
          </a:p>
        </p:txBody>
      </p:sp>
      <p:sp>
        <p:nvSpPr>
          <p:cNvPr id="5" name="Rounded Rectangle 4"/>
          <p:cNvSpPr/>
          <p:nvPr/>
        </p:nvSpPr>
        <p:spPr>
          <a:xfrm>
            <a:off x="3474720" y="2194560"/>
            <a:ext cx="2514600" cy="3291840"/>
          </a:xfrm>
          <a:prstGeom prst="roundRect">
            <a:avLst>
              <a:gd name="adj" fmla="val 8000"/>
            </a:avLst>
          </a:prstGeom>
          <a:solidFill>
            <a:srgbClr val="FD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000"/>
              </a:spcAft>
            </a:pPr>
            <a:r>
              <a:rPr sz="6600" b="1" i="0">
                <a:solidFill>
                  <a:srgbClr val="B84028"/>
                </a:solidFill>
                <a:latin typeface="Arial"/>
              </a:rPr>
              <a:t>325</a:t>
            </a:r>
          </a:p>
          <a:p>
            <a:pPr algn="ctr">
              <a:spcAft>
                <a:spcPts val="0"/>
              </a:spcAft>
            </a:pPr>
            <a:r>
              <a:rPr sz="1400" b="0" i="0">
                <a:solidFill>
                  <a:srgbClr val="46524C"/>
                </a:solidFill>
                <a:latin typeface="Arial"/>
              </a:rPr>
              <a:t>automated tests, green in CI right now</a:t>
            </a:r>
          </a:p>
        </p:txBody>
      </p:sp>
      <p:sp>
        <p:nvSpPr>
          <p:cNvPr id="6" name="Rounded Rectangle 5"/>
          <p:cNvSpPr/>
          <p:nvPr/>
        </p:nvSpPr>
        <p:spPr>
          <a:xfrm>
            <a:off x="6217920" y="2194560"/>
            <a:ext cx="2514600" cy="3291840"/>
          </a:xfrm>
          <a:prstGeom prst="roundRect">
            <a:avLst>
              <a:gd name="adj" fmla="val 8000"/>
            </a:avLst>
          </a:prstGeom>
          <a:solidFill>
            <a:srgbClr val="FD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000"/>
              </a:spcAft>
            </a:pPr>
            <a:r>
              <a:rPr sz="6600" b="1" i="0">
                <a:solidFill>
                  <a:srgbClr val="B84028"/>
                </a:solidFill>
                <a:latin typeface="Arial"/>
              </a:rPr>
              <a:t>3</a:t>
            </a:r>
          </a:p>
          <a:p>
            <a:pPr algn="ctr">
              <a:spcAft>
                <a:spcPts val="0"/>
              </a:spcAft>
            </a:pPr>
            <a:r>
              <a:rPr sz="1400" b="0" i="0">
                <a:solidFill>
                  <a:srgbClr val="46524C"/>
                </a:solidFill>
                <a:latin typeface="Arial"/>
              </a:rPr>
              <a:t>real bugs caught by live-testing, before they ever shipped</a:t>
            </a:r>
          </a:p>
        </p:txBody>
      </p:sp>
      <p:sp>
        <p:nvSpPr>
          <p:cNvPr id="7" name="Rounded Rectangle 6"/>
          <p:cNvSpPr/>
          <p:nvPr/>
        </p:nvSpPr>
        <p:spPr>
          <a:xfrm>
            <a:off x="8961120" y="2194560"/>
            <a:ext cx="2514600" cy="3291840"/>
          </a:xfrm>
          <a:prstGeom prst="roundRect">
            <a:avLst>
              <a:gd name="adj" fmla="val 8000"/>
            </a:avLst>
          </a:prstGeom>
          <a:solidFill>
            <a:srgbClr val="FD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000"/>
              </a:spcAft>
            </a:pPr>
            <a:r>
              <a:rPr sz="6600" b="1" i="0">
                <a:solidFill>
                  <a:srgbClr val="B84028"/>
                </a:solidFill>
                <a:latin typeface="Arial"/>
              </a:rPr>
              <a:t>0</a:t>
            </a:r>
          </a:p>
          <a:p>
            <a:pPr algn="ctr">
              <a:spcAft>
                <a:spcPts val="0"/>
              </a:spcAft>
            </a:pPr>
            <a:r>
              <a:rPr sz="1400" b="0" i="0">
                <a:solidFill>
                  <a:srgbClr val="46524C"/>
                </a:solidFill>
                <a:latin typeface="Arial"/>
              </a:rPr>
              <a:t>student passwords ever seen, stored, or sent anywhere by our code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TextBox 1"/>
          <p:cNvSpPr txBox="1"/>
          <p:nvPr/>
        </p:nvSpPr>
        <p:spPr>
          <a:xfrm>
            <a:off x="731520" y="502920"/>
            <a:ext cx="10698480" cy="320040"/>
          </a:xfrm>
          <a:prstGeom prst="rect">
            <a:avLst/>
          </a:prstGeom>
          <a:noFill/>
        </p:spPr>
        <p:txBody>
          <a:bodyPr wrap="square" anchor="t" lIns="0" rIns="0" tIns="0" bIns="0">
            <a:spAutoFit/>
          </a:bodyPr>
          <a:lstStyle/>
          <a:p>
            <a:pPr algn="l">
              <a:spcAft>
                <a:spcPts val="0"/>
              </a:spcAft>
            </a:pPr>
            <a:r>
              <a:rPr sz="1300" b="1" i="0" spc="300">
                <a:solidFill>
                  <a:srgbClr val="B84028"/>
                </a:solidFill>
                <a:latin typeface="Arial"/>
              </a:rPr>
              <a:t>WHAT'S NEXT</a:t>
            </a:r>
          </a:p>
        </p:txBody>
      </p:sp>
      <p:sp>
        <p:nvSpPr>
          <p:cNvPr id="3" name="TextBox 2"/>
          <p:cNvSpPr txBox="1"/>
          <p:nvPr/>
        </p:nvSpPr>
        <p:spPr>
          <a:xfrm>
            <a:off x="731520" y="868680"/>
            <a:ext cx="10698480" cy="914400"/>
          </a:xfrm>
          <a:prstGeom prst="rect">
            <a:avLst/>
          </a:prstGeom>
          <a:noFill/>
        </p:spPr>
        <p:txBody>
          <a:bodyPr wrap="square" anchor="t" lIns="0" rIns="0" tIns="0" bIns="0">
            <a:spAutoFit/>
          </a:bodyPr>
          <a:lstStyle/>
          <a:p>
            <a:pPr algn="l">
              <a:spcAft>
                <a:spcPts val="0"/>
              </a:spcAft>
            </a:pPr>
            <a:r>
              <a:rPr sz="3600" b="1" i="0">
                <a:solidFill>
                  <a:srgbClr val="17211B"/>
                </a:solidFill>
                <a:latin typeface="Arial"/>
              </a:rPr>
              <a:t>Already in review, not just on a whiteboard.</a:t>
            </a:r>
          </a:p>
        </p:txBody>
      </p:sp>
      <p:sp>
        <p:nvSpPr>
          <p:cNvPr id="4" name="Rounded Rectangle 3"/>
          <p:cNvSpPr/>
          <p:nvPr/>
        </p:nvSpPr>
        <p:spPr>
          <a:xfrm>
            <a:off x="731520" y="2286000"/>
            <a:ext cx="2514600" cy="265176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800"/>
              </a:spcAft>
            </a:pPr>
            <a:r>
              <a:rPr sz="1700" b="1" i="0">
                <a:solidFill>
                  <a:srgbClr val="17211B"/>
                </a:solidFill>
                <a:latin typeface="Arial"/>
              </a:rPr>
              <a:t>Hosted, synced store</a:t>
            </a:r>
          </a:p>
          <a:p>
            <a:pPr algn="l">
              <a:spcAft>
                <a:spcPts val="0"/>
              </a:spcAft>
            </a:pPr>
            <a:r>
              <a:rPr sz="1300" b="0" i="0">
                <a:solidFill>
                  <a:srgbClr val="46524C"/>
                </a:solidFill>
                <a:latin typeface="Arial"/>
              </a:rPr>
              <a:t>A cloud store so a student's dashboard follows them off device. In alpha now.</a:t>
            </a:r>
          </a:p>
        </p:txBody>
      </p:sp>
      <p:sp>
        <p:nvSpPr>
          <p:cNvPr id="5" name="Rounded Rectangle 4"/>
          <p:cNvSpPr/>
          <p:nvPr/>
        </p:nvSpPr>
        <p:spPr>
          <a:xfrm>
            <a:off x="3474720" y="2286000"/>
            <a:ext cx="2514600" cy="265176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800"/>
              </a:spcAft>
            </a:pPr>
            <a:r>
              <a:rPr sz="1700" b="1" i="0">
                <a:solidFill>
                  <a:srgbClr val="17211B"/>
                </a:solidFill>
                <a:latin typeface="Arial"/>
              </a:rPr>
              <a:t>Zero-click capture</a:t>
            </a:r>
          </a:p>
          <a:p>
            <a:pPr algn="l">
              <a:spcAft>
                <a:spcPts val="0"/>
              </a:spcAft>
            </a:pPr>
            <a:r>
              <a:rPr sz="1300" b="0" i="0">
                <a:solidFill>
                  <a:srgbClr val="46524C"/>
                </a:solidFill>
                <a:latin typeface="Arial"/>
              </a:rPr>
              <a:t>A browser extension that syncs signed-in tabs automatically, so it works while you work.</a:t>
            </a:r>
          </a:p>
        </p:txBody>
      </p:sp>
      <p:sp>
        <p:nvSpPr>
          <p:cNvPr id="6" name="Rounded Rectangle 5"/>
          <p:cNvSpPr/>
          <p:nvPr/>
        </p:nvSpPr>
        <p:spPr>
          <a:xfrm>
            <a:off x="6217920" y="2286000"/>
            <a:ext cx="2514600" cy="265176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800"/>
              </a:spcAft>
            </a:pPr>
            <a:r>
              <a:rPr sz="1700" b="1" i="0">
                <a:solidFill>
                  <a:srgbClr val="17211B"/>
                </a:solidFill>
                <a:latin typeface="Arial"/>
              </a:rPr>
              <a:t>Key information from syllabus</a:t>
            </a:r>
          </a:p>
          <a:p>
            <a:pPr algn="l">
              <a:spcAft>
                <a:spcPts val="0"/>
              </a:spcAft>
            </a:pPr>
            <a:r>
              <a:rPr sz="1300" b="0" i="0">
                <a:solidFill>
                  <a:srgbClr val="46524C"/>
                </a:solidFill>
                <a:latin typeface="Arial"/>
              </a:rPr>
              <a:t>An LLM reads the syllabus PDF for the exam date or assignment link a professor never put on Canvas.</a:t>
            </a:r>
          </a:p>
        </p:txBody>
      </p:sp>
      <p:sp>
        <p:nvSpPr>
          <p:cNvPr id="7" name="Rounded Rectangle 6"/>
          <p:cNvSpPr/>
          <p:nvPr/>
        </p:nvSpPr>
        <p:spPr>
          <a:xfrm>
            <a:off x="8961120" y="2286000"/>
            <a:ext cx="2514600" cy="2651760"/>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800"/>
              </a:spcAft>
            </a:pPr>
            <a:r>
              <a:rPr sz="1700" b="1" i="0">
                <a:solidFill>
                  <a:srgbClr val="17211B"/>
                </a:solidFill>
                <a:latin typeface="Arial"/>
              </a:rPr>
              <a:t>Beyond UBC</a:t>
            </a:r>
          </a:p>
          <a:p>
            <a:pPr algn="l">
              <a:spcAft>
                <a:spcPts val="0"/>
              </a:spcAft>
            </a:pPr>
            <a:r>
              <a:rPr sz="1300" b="0" i="0">
                <a:solidFill>
                  <a:srgbClr val="46524C"/>
                </a:solidFill>
                <a:latin typeface="Arial"/>
              </a:rPr>
              <a:t>The model was built with extendability in mind from day one, to work anywhere.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B84028"/>
        </a:solidFill>
        <a:effectLst/>
      </p:bgPr>
    </p:bg>
    <p:spTree>
      <p:nvGrpSpPr>
        <p:cNvPr id="1" name=""/>
        <p:cNvGrpSpPr/>
        <p:nvPr/>
      </p:nvGrpSpPr>
      <p:grpSpPr/>
      <p:sp>
        <p:nvSpPr>
          <p:cNvPr id="2" name="TextBox 1"/>
          <p:cNvSpPr txBox="1"/>
          <p:nvPr/>
        </p:nvSpPr>
        <p:spPr>
          <a:xfrm>
            <a:off x="731520" y="1554480"/>
            <a:ext cx="10698480" cy="1280160"/>
          </a:xfrm>
          <a:prstGeom prst="rect">
            <a:avLst/>
          </a:prstGeom>
          <a:noFill/>
        </p:spPr>
        <p:txBody>
          <a:bodyPr wrap="square" anchor="t" lIns="0" rIns="0" tIns="0" bIns="0">
            <a:spAutoFit/>
          </a:bodyPr>
          <a:lstStyle/>
          <a:p>
            <a:pPr algn="l">
              <a:spcAft>
                <a:spcPts val="0"/>
              </a:spcAft>
            </a:pPr>
            <a:r>
              <a:rPr sz="8800" b="1" i="0">
                <a:solidFill>
                  <a:srgbClr val="FFF8F4"/>
                </a:solidFill>
                <a:latin typeface="Arial"/>
              </a:rPr>
              <a:t>Lauds.</a:t>
            </a:r>
          </a:p>
        </p:txBody>
      </p:sp>
      <p:sp>
        <p:nvSpPr>
          <p:cNvPr id="3" name="TextBox 2"/>
          <p:cNvSpPr txBox="1"/>
          <p:nvPr/>
        </p:nvSpPr>
        <p:spPr>
          <a:xfrm>
            <a:off x="731520" y="2926080"/>
            <a:ext cx="9144000" cy="914400"/>
          </a:xfrm>
          <a:prstGeom prst="rect">
            <a:avLst/>
          </a:prstGeom>
          <a:noFill/>
        </p:spPr>
        <p:txBody>
          <a:bodyPr wrap="square" anchor="t" lIns="0" rIns="0" tIns="0" bIns="0">
            <a:spAutoFit/>
          </a:bodyPr>
          <a:lstStyle/>
          <a:p>
            <a:pPr algn="l">
              <a:spcAft>
                <a:spcPts val="0"/>
              </a:spcAft>
            </a:pPr>
            <a:r>
              <a:rPr sz="2200" b="0" i="0">
                <a:solidFill>
                  <a:srgbClr val="FBE4DA"/>
                </a:solidFill>
                <a:latin typeface="Arial"/>
              </a:rPr>
              <a:t>Every platform a university student already uses, fused into one shared model, ranked by what actually matters now.</a:t>
            </a:r>
          </a:p>
        </p:txBody>
      </p:sp>
      <p:sp>
        <p:nvSpPr>
          <p:cNvPr id="4" name="TextBox 3"/>
          <p:cNvSpPr txBox="1"/>
          <p:nvPr/>
        </p:nvSpPr>
        <p:spPr>
          <a:xfrm>
            <a:off x="731520" y="4297680"/>
            <a:ext cx="4023360" cy="731520"/>
          </a:xfrm>
          <a:prstGeom prst="rect">
            <a:avLst/>
          </a:prstGeom>
          <a:noFill/>
        </p:spPr>
        <p:txBody>
          <a:bodyPr wrap="square" anchor="t" lIns="0" rIns="0" tIns="0" bIns="0">
            <a:spAutoFit/>
          </a:bodyPr>
          <a:lstStyle/>
          <a:p>
            <a:pPr algn="l">
              <a:spcAft>
                <a:spcPts val="400"/>
              </a:spcAft>
            </a:pPr>
            <a:r>
              <a:rPr sz="1200" b="1" i="0" spc="200">
                <a:solidFill>
                  <a:srgbClr val="F4C3B3"/>
                </a:solidFill>
                <a:latin typeface="Arial"/>
              </a:rPr>
              <a:t>CODE</a:t>
            </a:r>
          </a:p>
          <a:p>
            <a:pPr algn="l">
              <a:spcAft>
                <a:spcPts val="0"/>
              </a:spcAft>
            </a:pPr>
            <a:r>
              <a:rPr sz="1700" b="0" i="0">
                <a:solidFill>
                  <a:srgbClr val="FFF8F4"/>
                </a:solidFill>
                <a:latin typeface="Arial"/>
              </a:rPr>
              <a:t>github.com/terraceonhigh/helloHacks26</a:t>
            </a:r>
          </a:p>
        </p:txBody>
      </p:sp>
      <p:sp>
        <p:nvSpPr>
          <p:cNvPr id="5" name="TextBox 4"/>
          <p:cNvSpPr txBox="1"/>
          <p:nvPr/>
        </p:nvSpPr>
        <p:spPr>
          <a:xfrm>
            <a:off x="4937759" y="4297680"/>
            <a:ext cx="4023360" cy="731520"/>
          </a:xfrm>
          <a:prstGeom prst="rect">
            <a:avLst/>
          </a:prstGeom>
          <a:noFill/>
        </p:spPr>
        <p:txBody>
          <a:bodyPr wrap="square" anchor="t" lIns="0" rIns="0" tIns="0" bIns="0">
            <a:spAutoFit/>
          </a:bodyPr>
          <a:lstStyle/>
          <a:p>
            <a:pPr algn="l">
              <a:spcAft>
                <a:spcPts val="400"/>
              </a:spcAft>
            </a:pPr>
            <a:r>
              <a:rPr sz="1200" b="1" i="0" spc="200">
                <a:solidFill>
                  <a:srgbClr val="F4C3B3"/>
                </a:solidFill>
                <a:latin typeface="Arial"/>
              </a:rPr>
              <a:t>BUILT FOR</a:t>
            </a:r>
          </a:p>
          <a:p>
            <a:pPr algn="l">
              <a:spcAft>
                <a:spcPts val="0"/>
              </a:spcAft>
            </a:pPr>
            <a:r>
              <a:rPr sz="1700" b="0" i="0">
                <a:solidFill>
                  <a:srgbClr val="FFF8F4"/>
                </a:solidFill>
                <a:latin typeface="Arial"/>
              </a:rPr>
              <a:t>UBC BizTech HelloHacks 2026</a:t>
            </a:r>
          </a:p>
        </p:txBody>
      </p:sp>
      <p:sp>
        <p:nvSpPr>
          <p:cNvPr id="6" name="TextBox 5"/>
          <p:cNvSpPr txBox="1"/>
          <p:nvPr/>
        </p:nvSpPr>
        <p:spPr>
          <a:xfrm>
            <a:off x="731520" y="5394960"/>
            <a:ext cx="7315200" cy="731520"/>
          </a:xfrm>
          <a:prstGeom prst="rect">
            <a:avLst/>
          </a:prstGeom>
          <a:noFill/>
        </p:spPr>
        <p:txBody>
          <a:bodyPr wrap="square" anchor="t" lIns="0" rIns="0" tIns="0" bIns="0">
            <a:spAutoFit/>
          </a:bodyPr>
          <a:lstStyle/>
          <a:p>
            <a:pPr algn="l">
              <a:spcAft>
                <a:spcPts val="400"/>
              </a:spcAft>
            </a:pPr>
            <a:r>
              <a:rPr sz="1200" b="1" i="0" spc="200">
                <a:solidFill>
                  <a:srgbClr val="F4C3B3"/>
                </a:solidFill>
                <a:latin typeface="Arial"/>
              </a:rPr>
              <a:t>BY TEAM 26</a:t>
            </a:r>
          </a:p>
          <a:p>
            <a:pPr algn="l">
              <a:spcAft>
                <a:spcPts val="0"/>
              </a:spcAft>
            </a:pPr>
            <a:r>
              <a:rPr sz="1700" b="0" i="0">
                <a:solidFill>
                  <a:srgbClr val="FFF8F4"/>
                </a:solidFill>
                <a:latin typeface="Arial"/>
              </a:rPr>
              <a:t>Terrace, Jacky, Samaya &amp; Vihaan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anchor="t" lIns="0" rIns="0" tIns="0" bIns="0">
            <a:spAutoFit/>
          </a:bodyPr>
          <a:lstStyle/>
          <a:p>
            <a:pPr algn="l">
              <a:spcAft>
                <a:spcPts val="0"/>
              </a:spcAft>
            </a:pPr>
            <a:r>
              <a:rPr sz="1300" b="1" i="0" spc="300">
                <a:solidFill>
                  <a:srgbClr val="B84028"/>
                </a:solidFill>
                <a:latin typeface="Arial"/>
              </a:rPr>
              <a:t>APPENDIX</a:t>
            </a:r>
          </a:p>
        </p:txBody>
      </p:sp>
      <p:sp>
        <p:nvSpPr>
          <p:cNvPr id="3" name="TextBox 2"/>
          <p:cNvSpPr txBox="1"/>
          <p:nvPr/>
        </p:nvSpPr>
        <p:spPr>
          <a:xfrm>
            <a:off x="731520" y="731520"/>
            <a:ext cx="10698480" cy="640080"/>
          </a:xfrm>
          <a:prstGeom prst="rect">
            <a:avLst/>
          </a:prstGeom>
          <a:noFill/>
        </p:spPr>
        <p:txBody>
          <a:bodyPr wrap="square" anchor="t" lIns="0" rIns="0" tIns="0" bIns="0">
            <a:spAutoFit/>
          </a:bodyPr>
          <a:lstStyle/>
          <a:p>
            <a:pPr algn="l">
              <a:spcAft>
                <a:spcPts val="0"/>
              </a:spcAft>
            </a:pPr>
            <a:r>
              <a:rPr sz="3200" b="1" i="0">
                <a:solidFill>
                  <a:srgbClr val="17211B"/>
                </a:solidFill>
                <a:latin typeface="Arial"/>
              </a:rPr>
              <a:t>Judge questions</a:t>
            </a:r>
          </a:p>
        </p:txBody>
      </p:sp>
      <p:sp>
        <p:nvSpPr>
          <p:cNvPr id="4" name="TextBox 3"/>
          <p:cNvSpPr txBox="1"/>
          <p:nvPr/>
        </p:nvSpPr>
        <p:spPr>
          <a:xfrm>
            <a:off x="731520" y="1554480"/>
            <a:ext cx="5166360" cy="4937760"/>
          </a:xfrm>
          <a:prstGeom prst="rect">
            <a:avLst/>
          </a:prstGeom>
          <a:noFill/>
        </p:spPr>
        <p:txBody>
          <a:bodyPr wrap="square" anchor="t" lIns="0" rIns="0" tIns="0" bIns="0">
            <a:spAutoFit/>
          </a:bodyPr>
          <a:lstStyle/>
          <a:p>
            <a:pPr algn="l">
              <a:spcAft>
                <a:spcPts val="300"/>
              </a:spcAft>
            </a:pPr>
            <a:r>
              <a:rPr sz="1500" b="1" i="0">
                <a:solidFill>
                  <a:srgbClr val="B84028"/>
                </a:solidFill>
                <a:latin typeface="Arial"/>
              </a:rPr>
              <a:t>Is this real data?</a:t>
            </a:r>
          </a:p>
          <a:p>
            <a:pPr algn="l">
              <a:spcAft>
                <a:spcPts val="1400"/>
              </a:spcAft>
            </a:pPr>
            <a:r>
              <a:rPr sz="1300" b="0" i="0">
                <a:solidFill>
                  <a:srgbClr val="46524C"/>
                </a:solidFill>
                <a:latin typeface="Arial"/>
              </a:rPr>
              <a:t>The demo student is fake, built in each platform's real format and run through the same code that reads a real account.</a:t>
            </a:r>
          </a:p>
          <a:p>
            <a:pPr algn="l">
              <a:spcAft>
                <a:spcPts val="300"/>
              </a:spcAft>
            </a:pPr>
            <a:r>
              <a:rPr sz="1500" b="1" i="0">
                <a:solidFill>
                  <a:srgbClr val="B84028"/>
                </a:solidFill>
                <a:latin typeface="Arial"/>
              </a:rPr>
              <a:t>Why not Canvas's calendar?</a:t>
            </a:r>
          </a:p>
          <a:p>
            <a:pPr algn="l">
              <a:spcAft>
                <a:spcPts val="1400"/>
              </a:spcAft>
            </a:pPr>
            <a:r>
              <a:rPr sz="1300" b="0" i="0">
                <a:solidFill>
                  <a:srgbClr val="46524C"/>
                </a:solidFill>
                <a:latin typeface="Arial"/>
              </a:rPr>
              <a:t>Canvas only sees Canvas. A WeBWorK quiz never shows up there. The value is the join.</a:t>
            </a:r>
          </a:p>
          <a:p>
            <a:pPr algn="l">
              <a:spcAft>
                <a:spcPts val="300"/>
              </a:spcAft>
            </a:pPr>
            <a:r>
              <a:rPr sz="1500" b="1" i="0">
                <a:solidFill>
                  <a:srgbClr val="B84028"/>
                </a:solidFill>
                <a:latin typeface="Arial"/>
              </a:rPr>
              <a:t>What's the moat?</a:t>
            </a:r>
          </a:p>
          <a:p>
            <a:pPr algn="l">
              <a:spcAft>
                <a:spcPts val="1400"/>
              </a:spcAft>
            </a:pPr>
            <a:r>
              <a:rPr sz="1300" b="0" i="0">
                <a:solidFill>
                  <a:srgbClr val="46524C"/>
                </a:solidFill>
                <a:latin typeface="Arial"/>
              </a:rPr>
              <a:t>The shared model and the fusion on top. One connector is easy to copy; fusing nine is the product.</a:t>
            </a:r>
          </a:p>
          <a:p>
            <a:pPr algn="l">
              <a:spcAft>
                <a:spcPts val="300"/>
              </a:spcAft>
            </a:pPr>
            <a:r>
              <a:rPr sz="1500" b="1" i="0">
                <a:solidFill>
                  <a:srgbClr val="B84028"/>
                </a:solidFill>
                <a:latin typeface="Arial"/>
              </a:rPr>
              <a:t>How does it scale to other schools?</a:t>
            </a:r>
          </a:p>
          <a:p>
            <a:pPr algn="l">
              <a:spcAft>
                <a:spcPts val="1400"/>
              </a:spcAft>
            </a:pPr>
            <a:r>
              <a:rPr sz="1300" b="0" i="0">
                <a:solidFill>
                  <a:srgbClr val="46524C"/>
                </a:solidFill>
                <a:latin typeface="Arial"/>
              </a:rPr>
              <a:t>A new platform or school is one adapter file. Fusion, ranking and screens don't change.</a:t>
            </a:r>
          </a:p>
        </p:txBody>
      </p:sp>
      <p:sp>
        <p:nvSpPr>
          <p:cNvPr id="5" name="TextBox 4"/>
          <p:cNvSpPr txBox="1"/>
          <p:nvPr/>
        </p:nvSpPr>
        <p:spPr>
          <a:xfrm>
            <a:off x="6263640" y="1554480"/>
            <a:ext cx="5166360" cy="4937760"/>
          </a:xfrm>
          <a:prstGeom prst="rect">
            <a:avLst/>
          </a:prstGeom>
          <a:noFill/>
        </p:spPr>
        <p:txBody>
          <a:bodyPr wrap="square" anchor="t" lIns="0" rIns="0" tIns="0" bIns="0">
            <a:spAutoFit/>
          </a:bodyPr>
          <a:lstStyle/>
          <a:p>
            <a:pPr algn="l">
              <a:spcAft>
                <a:spcPts val="300"/>
              </a:spcAft>
            </a:pPr>
            <a:r>
              <a:rPr sz="1500" b="1" i="0">
                <a:solidFill>
                  <a:srgbClr val="B84028"/>
                </a:solidFill>
                <a:latin typeface="Arial"/>
              </a:rPr>
              <a:t>Do you scrape?</a:t>
            </a:r>
          </a:p>
          <a:p>
            <a:pPr algn="l">
              <a:spcAft>
                <a:spcPts val="1400"/>
              </a:spcAft>
            </a:pPr>
            <a:r>
              <a:rPr sz="1300" b="0" i="0">
                <a:solidFill>
                  <a:srgbClr val="46524C"/>
                </a:solidFill>
                <a:latin typeface="Arial"/>
              </a:rPr>
              <a:t>Each platform's own data feed where one exists; otherwise one narrow page the student is already signed into.</a:t>
            </a:r>
          </a:p>
          <a:p>
            <a:pPr algn="l">
              <a:spcAft>
                <a:spcPts val="300"/>
              </a:spcAft>
            </a:pPr>
            <a:r>
              <a:rPr sz="1500" b="1" i="0">
                <a:solidFill>
                  <a:srgbClr val="B84028"/>
                </a:solidFill>
                <a:latin typeface="Arial"/>
              </a:rPr>
              <a:t>What about passwords?</a:t>
            </a:r>
          </a:p>
          <a:p>
            <a:pPr algn="l">
              <a:spcAft>
                <a:spcPts val="1400"/>
              </a:spcAft>
            </a:pPr>
            <a:r>
              <a:rPr sz="1300" b="0" i="0">
                <a:solidFill>
                  <a:srgbClr val="46524C"/>
                </a:solidFill>
                <a:latin typeface="Arial"/>
              </a:rPr>
              <a:t>We never see them. You log in yourself, and the session stays on your laptop.</a:t>
            </a:r>
          </a:p>
          <a:p>
            <a:pPr algn="l">
              <a:spcAft>
                <a:spcPts val="300"/>
              </a:spcAft>
            </a:pPr>
            <a:r>
              <a:rPr sz="1500" b="1" i="0">
                <a:solidFill>
                  <a:srgbClr val="B84028"/>
                </a:solidFill>
                <a:latin typeface="Arial"/>
              </a:rPr>
              <a:t>Why fusion, not another dashboard?</a:t>
            </a:r>
          </a:p>
          <a:p>
            <a:pPr algn="l">
              <a:spcAft>
                <a:spcPts val="1400"/>
              </a:spcAft>
            </a:pPr>
            <a:r>
              <a:rPr sz="1300" b="0" i="0">
                <a:solidFill>
                  <a:srgbClr val="46524C"/>
                </a:solidFill>
                <a:latin typeface="Arial"/>
              </a:rPr>
              <a:t>Other dashboards show one platform. Lauds joins nine, so duplicates merge and one ranked list covers everything.</a:t>
            </a:r>
          </a:p>
          <a:p>
            <a:pPr algn="l">
              <a:spcAft>
                <a:spcPts val="300"/>
              </a:spcAft>
            </a:pPr>
            <a:r>
              <a:rPr sz="1500" b="1" i="0">
                <a:solidFill>
                  <a:srgbClr val="B84028"/>
                </a:solidFill>
                <a:latin typeface="Arial"/>
              </a:rPr>
              <a:t>What's next?</a:t>
            </a:r>
          </a:p>
          <a:p>
            <a:pPr algn="l">
              <a:spcAft>
                <a:spcPts val="1400"/>
              </a:spcAft>
            </a:pPr>
            <a:r>
              <a:rPr sz="1300" b="0" i="0">
                <a:solidFill>
                  <a:srgbClr val="46524C"/>
                </a:solidFill>
                <a:latin typeface="Arial"/>
              </a:rPr>
              <a:t>Sync across devices, capture from tabs you already have open, deadlines read from syllabus PDFs.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anchor="t" lIns="0" rIns="0" tIns="0" bIns="0">
            <a:spAutoFit/>
          </a:bodyPr>
          <a:lstStyle/>
          <a:p>
            <a:pPr algn="l">
              <a:spcAft>
                <a:spcPts val="0"/>
              </a:spcAft>
            </a:pPr>
            <a:r>
              <a:rPr sz="1300" b="1" i="0" spc="300">
                <a:solidFill>
                  <a:srgbClr val="B84028"/>
                </a:solidFill>
                <a:latin typeface="Arial"/>
              </a:rPr>
              <a:t>APPENDIX</a:t>
            </a:r>
          </a:p>
        </p:txBody>
      </p:sp>
      <p:sp>
        <p:nvSpPr>
          <p:cNvPr id="3" name="TextBox 2"/>
          <p:cNvSpPr txBox="1"/>
          <p:nvPr/>
        </p:nvSpPr>
        <p:spPr>
          <a:xfrm>
            <a:off x="731520" y="731520"/>
            <a:ext cx="10698480" cy="640080"/>
          </a:xfrm>
          <a:prstGeom prst="rect">
            <a:avLst/>
          </a:prstGeom>
          <a:noFill/>
        </p:spPr>
        <p:txBody>
          <a:bodyPr wrap="square" anchor="t" lIns="0" rIns="0" tIns="0" bIns="0">
            <a:spAutoFit/>
          </a:bodyPr>
          <a:lstStyle/>
          <a:p>
            <a:pPr algn="l">
              <a:spcAft>
                <a:spcPts val="0"/>
              </a:spcAft>
            </a:pPr>
            <a:r>
              <a:rPr sz="3200" b="1" i="0">
                <a:solidFill>
                  <a:srgbClr val="17211B"/>
                </a:solidFill>
                <a:latin typeface="Arial"/>
              </a:rPr>
              <a:t>Keep these claims straight</a:t>
            </a:r>
          </a:p>
        </p:txBody>
      </p:sp>
      <p:graphicFrame>
        <p:nvGraphicFramePr>
          <p:cNvPr id="4" name="Table 3"/>
          <p:cNvGraphicFramePr>
            <a:graphicFrameLocks noGrp="1"/>
          </p:cNvGraphicFramePr>
          <p:nvPr/>
        </p:nvGraphicFramePr>
        <p:xfrm>
          <a:off x="731520" y="1554480"/>
          <a:ext cx="10698480" cy="4206240"/>
        </p:xfrm>
        <a:graphic>
          <a:graphicData uri="http://schemas.openxmlformats.org/drawingml/2006/table">
            <a:tbl>
              <a:tblPr firstRow="1" bandRow="1">
                <a:tableStyleId>{5C22544A-7EE6-4342-B048-85BDC9FD1C3A}</a:tableStyleId>
              </a:tblPr>
              <a:tblGrid>
                <a:gridCol w="5349240"/>
                <a:gridCol w="5349240"/>
              </a:tblGrid>
              <a:tr h="525780">
                <a:tc>
                  <a:txBody>
                    <a:bodyPr/>
                    <a:lstStyle/>
                    <a:p>
                      <a:pPr algn="l">
                        <a:spcAft>
                          <a:spcPts val="0"/>
                        </a:spcAft>
                      </a:pPr>
                      <a:r>
                        <a:rPr sz="1500" b="1" i="0">
                          <a:solidFill>
                            <a:srgbClr val="FFF8F4"/>
                          </a:solidFill>
                          <a:latin typeface="Arial"/>
                        </a:rPr>
                        <a:t>Don't say</a:t>
                      </a:r>
                    </a:p>
                  </a:txBody>
                  <a:tcPr marL="137160" marR="137160">
                    <a:solidFill>
                      <a:srgbClr val="B84028"/>
                    </a:solidFill>
                  </a:tcPr>
                </a:tc>
                <a:tc>
                  <a:txBody>
                    <a:bodyPr/>
                    <a:lstStyle/>
                    <a:p>
                      <a:pPr algn="l">
                        <a:spcAft>
                          <a:spcPts val="0"/>
                        </a:spcAft>
                      </a:pPr>
                      <a:r>
                        <a:rPr sz="1500" b="1" i="0">
                          <a:solidFill>
                            <a:srgbClr val="FFF8F4"/>
                          </a:solidFill>
                          <a:latin typeface="Arial"/>
                        </a:rPr>
                        <a:t>Say instead</a:t>
                      </a:r>
                    </a:p>
                  </a:txBody>
                  <a:tcPr marL="137160" marR="137160">
                    <a:solidFill>
                      <a:srgbClr val="B84028"/>
                    </a:solidFill>
                  </a:tcPr>
                </a:tc>
              </a:tr>
              <a:tr h="525780">
                <a:tc>
                  <a:txBody>
                    <a:bodyPr/>
                    <a:lstStyle/>
                    <a:p>
                      <a:pPr algn="l">
                        <a:spcAft>
                          <a:spcPts val="0"/>
                        </a:spcAft>
                      </a:pPr>
                      <a:r>
                        <a:rPr sz="1500" b="0" i="0">
                          <a:solidFill>
                            <a:srgbClr val="5F6B65"/>
                          </a:solidFill>
                          <a:latin typeface="Arial"/>
                        </a:rPr>
                        <a:t>"It connects to WeBWorK and Brightspace."</a:t>
                      </a:r>
                    </a:p>
                  </a:txBody>
                  <a:tcPr marL="137160" marR="137160">
                    <a:solidFill>
                      <a:srgbClr val="FFFFFF"/>
                    </a:solidFill>
                  </a:tcPr>
                </a:tc>
                <a:tc>
                  <a:txBody>
                    <a:bodyPr/>
                    <a:lstStyle/>
                    <a:p>
                      <a:pPr algn="l">
                        <a:spcAft>
                          <a:spcPts val="0"/>
                        </a:spcAft>
                      </a:pPr>
                      <a:r>
                        <a:rPr sz="1500" b="1" i="0">
                          <a:solidFill>
                            <a:srgbClr val="17211B"/>
                          </a:solidFill>
                          <a:latin typeface="Arial"/>
                        </a:rPr>
                        <a:t>"They're in the demo; live connect is in review."</a:t>
                      </a:r>
                    </a:p>
                  </a:txBody>
                  <a:tcPr marL="137160" marR="137160">
                    <a:solidFill>
                      <a:srgbClr val="FFFFFF"/>
                    </a:solidFill>
                  </a:tcPr>
                </a:tc>
              </a:tr>
              <a:tr h="525780">
                <a:tc>
                  <a:txBody>
                    <a:bodyPr/>
                    <a:lstStyle/>
                    <a:p>
                      <a:pPr algn="l">
                        <a:spcAft>
                          <a:spcPts val="0"/>
                        </a:spcAft>
                      </a:pPr>
                      <a:r>
                        <a:rPr sz="1500" b="0" i="0">
                          <a:solidFill>
                            <a:srgbClr val="5F6B65"/>
                          </a:solidFill>
                          <a:latin typeface="Arial"/>
                        </a:rPr>
                        <a:t>"Your dashboard syncs across devices."</a:t>
                      </a:r>
                    </a:p>
                  </a:txBody>
                  <a:tcPr marL="137160" marR="137160">
                    <a:solidFill>
                      <a:srgbClr val="F1F3F1"/>
                    </a:solidFill>
                  </a:tcPr>
                </a:tc>
                <a:tc>
                  <a:txBody>
                    <a:bodyPr/>
                    <a:lstStyle/>
                    <a:p>
                      <a:pPr algn="l">
                        <a:spcAft>
                          <a:spcPts val="0"/>
                        </a:spcAft>
                      </a:pPr>
                      <a:r>
                        <a:rPr sz="1500" b="1" i="0">
                          <a:solidFill>
                            <a:srgbClr val="17211B"/>
                          </a:solidFill>
                          <a:latin typeface="Arial"/>
                        </a:rPr>
                        <a:t>"A synced account is next."</a:t>
                      </a:r>
                    </a:p>
                  </a:txBody>
                  <a:tcPr marL="137160" marR="137160">
                    <a:solidFill>
                      <a:srgbClr val="F1F3F1"/>
                    </a:solidFill>
                  </a:tcPr>
                </a:tc>
              </a:tr>
              <a:tr h="525780">
                <a:tc>
                  <a:txBody>
                    <a:bodyPr/>
                    <a:lstStyle/>
                    <a:p>
                      <a:pPr algn="l">
                        <a:spcAft>
                          <a:spcPts val="0"/>
                        </a:spcAft>
                      </a:pPr>
                      <a:r>
                        <a:rPr sz="1500" b="0" i="0">
                          <a:solidFill>
                            <a:srgbClr val="5F6B65"/>
                          </a:solidFill>
                          <a:latin typeface="Arial"/>
                        </a:rPr>
                        <a:t>"We support 14 platforms."</a:t>
                      </a:r>
                    </a:p>
                  </a:txBody>
                  <a:tcPr marL="137160" marR="137160">
                    <a:solidFill>
                      <a:srgbClr val="FFFFFF"/>
                    </a:solidFill>
                  </a:tcPr>
                </a:tc>
                <a:tc>
                  <a:txBody>
                    <a:bodyPr/>
                    <a:lstStyle/>
                    <a:p>
                      <a:pPr algn="l">
                        <a:spcAft>
                          <a:spcPts val="0"/>
                        </a:spcAft>
                      </a:pPr>
                      <a:r>
                        <a:rPr sz="1500" b="1" i="0">
                          <a:solidFill>
                            <a:srgbClr val="17211B"/>
                          </a:solidFill>
                          <a:latin typeface="Arial"/>
                        </a:rPr>
                        <a:t>"14 in the pipeline: 6 merged, 8 in review."</a:t>
                      </a:r>
                    </a:p>
                  </a:txBody>
                  <a:tcPr marL="137160" marR="137160">
                    <a:solidFill>
                      <a:srgbClr val="FFFFFF"/>
                    </a:solidFill>
                  </a:tcPr>
                </a:tc>
              </a:tr>
              <a:tr h="525780">
                <a:tc>
                  <a:txBody>
                    <a:bodyPr/>
                    <a:lstStyle/>
                    <a:p>
                      <a:pPr algn="l">
                        <a:spcAft>
                          <a:spcPts val="0"/>
                        </a:spcAft>
                      </a:pPr>
                      <a:r>
                        <a:rPr sz="1500" b="0" i="0">
                          <a:solidFill>
                            <a:srgbClr val="5F6B65"/>
                          </a:solidFill>
                          <a:latin typeface="Arial"/>
                        </a:rPr>
                        <a:t>"Click to buy your textbooks."</a:t>
                      </a:r>
                    </a:p>
                  </a:txBody>
                  <a:tcPr marL="137160" marR="137160">
                    <a:solidFill>
                      <a:srgbClr val="F1F3F1"/>
                    </a:solidFill>
                  </a:tcPr>
                </a:tc>
                <a:tc>
                  <a:txBody>
                    <a:bodyPr/>
                    <a:lstStyle/>
                    <a:p>
                      <a:pPr algn="l">
                        <a:spcAft>
                          <a:spcPts val="0"/>
                        </a:spcAft>
                      </a:pPr>
                      <a:r>
                        <a:rPr sz="1500" b="1" i="0">
                          <a:solidFill>
                            <a:srgbClr val="17211B"/>
                          </a:solidFill>
                          <a:latin typeface="Arial"/>
                        </a:rPr>
                        <a:t>"It shows your required textbooks."</a:t>
                      </a:r>
                    </a:p>
                  </a:txBody>
                  <a:tcPr marL="137160" marR="137160">
                    <a:solidFill>
                      <a:srgbClr val="F1F3F1"/>
                    </a:solidFill>
                  </a:tcPr>
                </a:tc>
              </a:tr>
              <a:tr h="525780">
                <a:tc>
                  <a:txBody>
                    <a:bodyPr/>
                    <a:lstStyle/>
                    <a:p>
                      <a:pPr algn="l">
                        <a:spcAft>
                          <a:spcPts val="0"/>
                        </a:spcAft>
                      </a:pPr>
                      <a:r>
                        <a:rPr sz="1500" b="0" i="0">
                          <a:solidFill>
                            <a:srgbClr val="5F6B65"/>
                          </a:solidFill>
                          <a:latin typeface="Arial"/>
                        </a:rPr>
                        <a:t>"We only ever read JSON."</a:t>
                      </a:r>
                    </a:p>
                  </a:txBody>
                  <a:tcPr marL="137160" marR="137160">
                    <a:solidFill>
                      <a:srgbClr val="FFFFFF"/>
                    </a:solidFill>
                  </a:tcPr>
                </a:tc>
                <a:tc>
                  <a:txBody>
                    <a:bodyPr/>
                    <a:lstStyle/>
                    <a:p>
                      <a:pPr algn="l">
                        <a:spcAft>
                          <a:spcPts val="0"/>
                        </a:spcAft>
                      </a:pPr>
                      <a:r>
                        <a:rPr sz="1500" b="1" i="0">
                          <a:solidFill>
                            <a:srgbClr val="17211B"/>
                          </a:solidFill>
                          <a:latin typeface="Arial"/>
                        </a:rPr>
                        <a:t>"Structured data first, a narrow page read where there's no feed."</a:t>
                      </a:r>
                    </a:p>
                  </a:txBody>
                  <a:tcPr marL="137160" marR="137160">
                    <a:solidFill>
                      <a:srgbClr val="FFFFFF"/>
                    </a:solidFill>
                  </a:tcPr>
                </a:tc>
              </a:tr>
              <a:tr h="525780">
                <a:tc>
                  <a:txBody>
                    <a:bodyPr/>
                    <a:lstStyle/>
                    <a:p>
                      <a:pPr algn="l">
                        <a:spcAft>
                          <a:spcPts val="0"/>
                        </a:spcAft>
                      </a:pPr>
                      <a:r>
                        <a:rPr sz="1500" b="0" i="0">
                          <a:solidFill>
                            <a:srgbClr val="5F6B65"/>
                          </a:solidFill>
                          <a:latin typeface="Arial"/>
                        </a:rPr>
                        <a:t>"It's a Canvas tool."</a:t>
                      </a:r>
                    </a:p>
                  </a:txBody>
                  <a:tcPr marL="137160" marR="137160">
                    <a:solidFill>
                      <a:srgbClr val="F1F3F1"/>
                    </a:solidFill>
                  </a:tcPr>
                </a:tc>
                <a:tc>
                  <a:txBody>
                    <a:bodyPr/>
                    <a:lstStyle/>
                    <a:p>
                      <a:pPr algn="l">
                        <a:spcAft>
                          <a:spcPts val="0"/>
                        </a:spcAft>
                      </a:pPr>
                      <a:r>
                        <a:rPr sz="1500" b="1" i="0">
                          <a:solidFill>
                            <a:srgbClr val="17211B"/>
                          </a:solidFill>
                          <a:latin typeface="Arial"/>
                        </a:rPr>
                        <a:t>"Canvas is the first sensor, not the product."</a:t>
                      </a:r>
                    </a:p>
                  </a:txBody>
                  <a:tcPr marL="137160" marR="137160">
                    <a:solidFill>
                      <a:srgbClr val="F1F3F1"/>
                    </a:solidFill>
                  </a:tcPr>
                </a:tc>
              </a:tr>
              <a:tr h="525780">
                <a:tc>
                  <a:txBody>
                    <a:bodyPr/>
                    <a:lstStyle/>
                    <a:p>
                      <a:pPr algn="l">
                        <a:spcAft>
                          <a:spcPts val="0"/>
                        </a:spcAft>
                      </a:pPr>
                      <a:r>
                        <a:rPr sz="1500" b="0" i="0">
                          <a:solidFill>
                            <a:srgbClr val="5F6B65"/>
                          </a:solidFill>
                          <a:latin typeface="Arial"/>
                        </a:rPr>
                        <a:t>Comparisons to Palantir or military language</a:t>
                      </a:r>
                    </a:p>
                  </a:txBody>
                  <a:tcPr marL="137160" marR="137160">
                    <a:solidFill>
                      <a:srgbClr val="FFFFFF"/>
                    </a:solidFill>
                  </a:tcPr>
                </a:tc>
                <a:tc>
                  <a:txBody>
                    <a:bodyPr/>
                    <a:lstStyle/>
                    <a:p>
                      <a:pPr algn="l">
                        <a:spcAft>
                          <a:spcPts val="0"/>
                        </a:spcAft>
                      </a:pPr>
                      <a:r>
                        <a:rPr sz="1500" b="1" i="0">
                          <a:solidFill>
                            <a:srgbClr val="17211B"/>
                          </a:solidFill>
                          <a:latin typeface="Arial"/>
                        </a:rPr>
                        <a:t>"Many narrow sensors, one fused picture."</a:t>
                      </a:r>
                    </a:p>
                  </a:txBody>
                  <a:tcPr marL="137160" marR="137160">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TextBox 1"/>
          <p:cNvSpPr txBox="1"/>
          <p:nvPr/>
        </p:nvSpPr>
        <p:spPr>
          <a:xfrm>
            <a:off x="731520" y="457200"/>
            <a:ext cx="10698480" cy="320040"/>
          </a:xfrm>
          <a:prstGeom prst="rect">
            <a:avLst/>
          </a:prstGeom>
          <a:noFill/>
        </p:spPr>
        <p:txBody>
          <a:bodyPr wrap="square" anchor="t" lIns="0" rIns="0" tIns="0" bIns="0">
            <a:spAutoFit/>
          </a:bodyPr>
          <a:lstStyle/>
          <a:p>
            <a:pPr algn="l">
              <a:spcAft>
                <a:spcPts val="0"/>
              </a:spcAft>
            </a:pPr>
            <a:r>
              <a:rPr sz="1300" b="1" i="0" spc="300">
                <a:solidFill>
                  <a:srgbClr val="B84028"/>
                </a:solidFill>
                <a:latin typeface="Arial"/>
              </a:rPr>
              <a:t>WHY IT WORKS</a:t>
            </a:r>
          </a:p>
        </p:txBody>
      </p:sp>
      <p:sp>
        <p:nvSpPr>
          <p:cNvPr id="3" name="TextBox 2"/>
          <p:cNvSpPr txBox="1"/>
          <p:nvPr/>
        </p:nvSpPr>
        <p:spPr>
          <a:xfrm>
            <a:off x="731520" y="777240"/>
            <a:ext cx="10698480" cy="640080"/>
          </a:xfrm>
          <a:prstGeom prst="rect">
            <a:avLst/>
          </a:prstGeom>
          <a:noFill/>
        </p:spPr>
        <p:txBody>
          <a:bodyPr wrap="square" anchor="t" lIns="0" rIns="0" tIns="0" bIns="0">
            <a:spAutoFit/>
          </a:bodyPr>
          <a:lstStyle/>
          <a:p>
            <a:pPr algn="l">
              <a:spcAft>
                <a:spcPts val="0"/>
              </a:spcAft>
            </a:pPr>
            <a:r>
              <a:rPr sz="3200" b="1" i="0">
                <a:solidFill>
                  <a:srgbClr val="17211B"/>
                </a:solidFill>
                <a:latin typeface="Arial"/>
              </a:rPr>
              <a:t>A tight loop for every student's morning</a:t>
            </a:r>
          </a:p>
        </p:txBody>
      </p:sp>
      <p:sp>
        <p:nvSpPr>
          <p:cNvPr id="4" name="TextBox 3"/>
          <p:cNvSpPr txBox="1"/>
          <p:nvPr/>
        </p:nvSpPr>
        <p:spPr>
          <a:xfrm>
            <a:off x="731520" y="1417320"/>
            <a:ext cx="10698480" cy="365760"/>
          </a:xfrm>
          <a:prstGeom prst="rect">
            <a:avLst/>
          </a:prstGeom>
          <a:noFill/>
        </p:spPr>
        <p:txBody>
          <a:bodyPr wrap="square" anchor="t" lIns="0" rIns="0" tIns="0" bIns="0">
            <a:spAutoFit/>
          </a:bodyPr>
          <a:lstStyle/>
          <a:p>
            <a:pPr algn="l">
              <a:spcAft>
                <a:spcPts val="0"/>
              </a:spcAft>
            </a:pPr>
            <a:r>
              <a:rPr sz="1500" b="0" i="0">
                <a:solidFill>
                  <a:srgbClr val="46524C"/>
                </a:solidFill>
                <a:latin typeface="Arial"/>
              </a:rPr>
              <a:t>See it, fuse it, rank it, act on it: a tight four-step loop, run on a student's week.</a:t>
            </a:r>
          </a:p>
        </p:txBody>
      </p:sp>
      <p:sp>
        <p:nvSpPr>
          <p:cNvPr id="5" name="Rounded Rectangle 4"/>
          <p:cNvSpPr/>
          <p:nvPr/>
        </p:nvSpPr>
        <p:spPr>
          <a:xfrm>
            <a:off x="731520" y="2057400"/>
            <a:ext cx="3108960" cy="1874519"/>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600"/>
              </a:spcAft>
            </a:pPr>
            <a:r>
              <a:rPr sz="1200" b="1" i="0" spc="250">
                <a:solidFill>
                  <a:srgbClr val="B84028"/>
                </a:solidFill>
                <a:latin typeface="Arial"/>
              </a:rPr>
              <a:t>SEE</a:t>
            </a:r>
          </a:p>
          <a:p>
            <a:pPr algn="l">
              <a:spcAft>
                <a:spcPts val="600"/>
              </a:spcAft>
            </a:pPr>
            <a:r>
              <a:rPr sz="1800" b="1" i="0">
                <a:solidFill>
                  <a:srgbClr val="17211B"/>
                </a:solidFill>
                <a:latin typeface="Arial"/>
              </a:rPr>
              <a:t>Read every sensor</a:t>
            </a:r>
          </a:p>
          <a:p>
            <a:pPr algn="l">
              <a:spcAft>
                <a:spcPts val="0"/>
              </a:spcAft>
            </a:pPr>
            <a:r>
              <a:rPr sz="1300" b="0" i="0">
                <a:solidFill>
                  <a:srgbClr val="46524C"/>
                </a:solidFill>
                <a:latin typeface="Arial"/>
              </a:rPr>
              <a:t>Canvas, PrairieLearn, WeBWorK, Piazza, Workday, the Bookstore</a:t>
            </a:r>
          </a:p>
        </p:txBody>
      </p:sp>
      <p:sp>
        <p:nvSpPr>
          <p:cNvPr id="6" name="Rounded Rectangle 5"/>
          <p:cNvSpPr/>
          <p:nvPr/>
        </p:nvSpPr>
        <p:spPr>
          <a:xfrm>
            <a:off x="4572000" y="2057400"/>
            <a:ext cx="3108960" cy="1874519"/>
          </a:xfrm>
          <a:prstGeom prst="roundRect">
            <a:avLst>
              <a:gd name="adj" fmla="val 8000"/>
            </a:avLst>
          </a:prstGeom>
          <a:solidFill>
            <a:srgbClr val="B8402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600"/>
              </a:spcAft>
            </a:pPr>
            <a:r>
              <a:rPr sz="1200" b="1" i="0" spc="250">
                <a:solidFill>
                  <a:srgbClr val="F3D9CE"/>
                </a:solidFill>
                <a:latin typeface="Arial"/>
              </a:rPr>
              <a:t>FUSE</a:t>
            </a:r>
          </a:p>
          <a:p>
            <a:pPr algn="l">
              <a:spcAft>
                <a:spcPts val="600"/>
              </a:spcAft>
            </a:pPr>
            <a:r>
              <a:rPr sz="1800" b="1" i="0">
                <a:solidFill>
                  <a:srgbClr val="FFF8F4"/>
                </a:solidFill>
                <a:latin typeface="Arial"/>
              </a:rPr>
              <a:t>Fuse into one model</a:t>
            </a:r>
          </a:p>
          <a:p>
            <a:pPr algn="l">
              <a:spcAft>
                <a:spcPts val="0"/>
              </a:spcAft>
            </a:pPr>
            <a:r>
              <a:rPr sz="1300" b="0" i="0">
                <a:solidFill>
                  <a:srgbClr val="FBE4DA"/>
                </a:solidFill>
                <a:latin typeface="Arial"/>
              </a:rPr>
              <a:t>Match courses, merge duplicates: one quiz on two platforms is one item</a:t>
            </a:r>
          </a:p>
        </p:txBody>
      </p:sp>
      <p:sp>
        <p:nvSpPr>
          <p:cNvPr id="7" name="Rounded Rectangle 6"/>
          <p:cNvSpPr/>
          <p:nvPr/>
        </p:nvSpPr>
        <p:spPr>
          <a:xfrm>
            <a:off x="4572000" y="4434840"/>
            <a:ext cx="3108960" cy="1874519"/>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600"/>
              </a:spcAft>
            </a:pPr>
            <a:r>
              <a:rPr sz="1200" b="1" i="0" spc="250">
                <a:solidFill>
                  <a:srgbClr val="B84028"/>
                </a:solidFill>
                <a:latin typeface="Arial"/>
              </a:rPr>
              <a:t>DECIDE</a:t>
            </a:r>
          </a:p>
          <a:p>
            <a:pPr algn="l">
              <a:spcAft>
                <a:spcPts val="600"/>
              </a:spcAft>
            </a:pPr>
            <a:r>
              <a:rPr sz="1800" b="1" i="0">
                <a:solidFill>
                  <a:srgbClr val="17211B"/>
                </a:solidFill>
                <a:latin typeface="Arial"/>
              </a:rPr>
              <a:t>Rank what matters</a:t>
            </a:r>
          </a:p>
          <a:p>
            <a:pPr algn="l">
              <a:spcAft>
                <a:spcPts val="0"/>
              </a:spcAft>
            </a:pPr>
            <a:r>
              <a:rPr sz="1300" b="0" i="0">
                <a:solidFill>
                  <a:srgbClr val="46524C"/>
                </a:solidFill>
                <a:latin typeface="Arial"/>
              </a:rPr>
              <a:t>Urgency from due date and kind, weighted by what matters to you</a:t>
            </a:r>
          </a:p>
        </p:txBody>
      </p:sp>
      <p:sp>
        <p:nvSpPr>
          <p:cNvPr id="8" name="Rounded Rectangle 7"/>
          <p:cNvSpPr/>
          <p:nvPr/>
        </p:nvSpPr>
        <p:spPr>
          <a:xfrm>
            <a:off x="731520" y="4434840"/>
            <a:ext cx="3108960" cy="1874519"/>
          </a:xfrm>
          <a:prstGeom prst="roundRect">
            <a:avLst>
              <a:gd name="adj" fmla="val 8000"/>
            </a:avLst>
          </a:prstGeom>
          <a:solidFill>
            <a:srgbClr val="FFFFFF"/>
          </a:solidFill>
          <a:ln w="12700">
            <a:solidFill>
              <a:srgbClr val="E4E9E5"/>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600"/>
              </a:spcAft>
            </a:pPr>
            <a:r>
              <a:rPr sz="1200" b="1" i="0" spc="250">
                <a:solidFill>
                  <a:srgbClr val="B84028"/>
                </a:solidFill>
                <a:latin typeface="Arial"/>
              </a:rPr>
              <a:t>ACT</a:t>
            </a:r>
          </a:p>
          <a:p>
            <a:pPr algn="l">
              <a:spcAft>
                <a:spcPts val="600"/>
              </a:spcAft>
            </a:pPr>
            <a:r>
              <a:rPr sz="1800" b="1" i="0">
                <a:solidFill>
                  <a:srgbClr val="17211B"/>
                </a:solidFill>
                <a:latin typeface="Arial"/>
              </a:rPr>
              <a:t>One click to do it</a:t>
            </a:r>
          </a:p>
          <a:p>
            <a:pPr algn="l">
              <a:spcAft>
                <a:spcPts val="0"/>
              </a:spcAft>
            </a:pPr>
            <a:r>
              <a:rPr sz="1300" b="0" i="0">
                <a:solidFill>
                  <a:srgbClr val="46524C"/>
                </a:solidFill>
                <a:latin typeface="Arial"/>
              </a:rPr>
              <a:t>Open it where it lives, check it off, or send it to your calendar</a:t>
            </a:r>
          </a:p>
        </p:txBody>
      </p:sp>
      <p:sp>
        <p:nvSpPr>
          <p:cNvPr id="9" name="Right Arrow 8"/>
          <p:cNvSpPr/>
          <p:nvPr/>
        </p:nvSpPr>
        <p:spPr>
          <a:xfrm>
            <a:off x="3977639" y="2788920"/>
            <a:ext cx="457200" cy="365760"/>
          </a:xfrm>
          <a:prstGeom prst="rightArrow">
            <a:avLst/>
          </a:prstGeom>
          <a:solidFill>
            <a:srgbClr val="B84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wn Arrow 9"/>
          <p:cNvSpPr/>
          <p:nvPr/>
        </p:nvSpPr>
        <p:spPr>
          <a:xfrm>
            <a:off x="5943600" y="3977639"/>
            <a:ext cx="365760" cy="411480"/>
          </a:xfrm>
          <a:prstGeom prst="downArrow">
            <a:avLst/>
          </a:prstGeom>
          <a:solidFill>
            <a:srgbClr val="B84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eft Arrow 10"/>
          <p:cNvSpPr/>
          <p:nvPr/>
        </p:nvSpPr>
        <p:spPr>
          <a:xfrm>
            <a:off x="3977639" y="5166360"/>
            <a:ext cx="457200" cy="365760"/>
          </a:xfrm>
          <a:prstGeom prst="leftArrow">
            <a:avLst/>
          </a:prstGeom>
          <a:solidFill>
            <a:srgbClr val="B84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Up Arrow 11"/>
          <p:cNvSpPr/>
          <p:nvPr/>
        </p:nvSpPr>
        <p:spPr>
          <a:xfrm>
            <a:off x="2103120" y="3977639"/>
            <a:ext cx="365760" cy="411480"/>
          </a:xfrm>
          <a:prstGeom prst="upArrow">
            <a:avLst/>
          </a:prstGeom>
          <a:solidFill>
            <a:srgbClr val="B84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38160" y="2057400"/>
            <a:ext cx="3291840" cy="4251960"/>
          </a:xfrm>
          <a:prstGeom prst="roundRect">
            <a:avLst>
              <a:gd name="adj" fmla="val 8000"/>
            </a:avLst>
          </a:prstGeom>
          <a:solidFill>
            <a:srgbClr val="FDF2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l">
              <a:spcAft>
                <a:spcPts val="1200"/>
              </a:spcAft>
            </a:pPr>
            <a:r>
              <a:rPr sz="2200" b="1" i="0">
                <a:solidFill>
                  <a:srgbClr val="17211B"/>
                </a:solidFill>
                <a:latin typeface="Arial"/>
              </a:rPr>
              <a:t>Most student tools stop at reading.</a:t>
            </a:r>
          </a:p>
          <a:p>
            <a:pPr algn="l">
              <a:spcAft>
                <a:spcPts val="0"/>
              </a:spcAft>
            </a:pPr>
            <a:r>
              <a:rPr sz="1600" b="0" i="0">
                <a:solidFill>
                  <a:srgbClr val="46524C"/>
                </a:solidFill>
                <a:latin typeface="Arial"/>
              </a:rPr>
              <a:t>Lauds closes the loop, every morning, before you open any other tab.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